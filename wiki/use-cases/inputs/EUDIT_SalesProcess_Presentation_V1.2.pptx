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54864"/>
            <a:ext cx="11731752" cy="47548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EUDIT — End-to-End Sales &amp; After-Sales Business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521207"/>
            <a:ext cx="11731752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15 Process Steps  ·  160 Processes  ·  BRM V1.2  ·  Based on CoRoM, OSDM, OMSA, TOMP, FerryGateway, NeTEx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" y="832103"/>
            <a:ext cx="11320272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4340" y="832103"/>
            <a:ext cx="11320272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1" i="0">
                <a:solidFill>
                  <a:srgbClr val="003366"/>
                </a:solidFill>
                <a:latin typeface="Calibri"/>
              </a:rPr>
              <a:t>CUSTOMER SALES JOURNEY  →  Steps 01 – 05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" y="2249424"/>
            <a:ext cx="11320272" cy="27432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" y="2249424"/>
            <a:ext cx="11320272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1" i="0">
                <a:solidFill>
                  <a:srgbClr val="028090"/>
                </a:solidFill>
                <a:latin typeface="Calibri"/>
              </a:rPr>
              <a:t>TRANSITION &amp; DISRUPTION MANAGEMENT  →  Steps 06 –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" y="3666744"/>
            <a:ext cx="11320272" cy="2743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" y="3666744"/>
            <a:ext cx="11320272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1" i="0">
                <a:solidFill>
                  <a:srgbClr val="C55A11"/>
                </a:solidFill>
                <a:latin typeface="Calibri"/>
              </a:rPr>
              <a:t>AFTER-SALES, SETTLEMENT &amp; GOVERNANCE  →  Steps 11 – 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" y="1033271"/>
            <a:ext cx="2121408" cy="932688"/>
          </a:xfrm>
          <a:prstGeom prst="rect">
            <a:avLst/>
          </a:prstGeom>
          <a:solidFill>
            <a:srgbClr val="E8F4FD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" y="1033271"/>
            <a:ext cx="59436" cy="9326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4852" y="1069848"/>
            <a:ext cx="274320" cy="21031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4852" y="105156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" y="114300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070C0"/>
                </a:solidFill>
                <a:latin typeface="Calibri"/>
              </a:rPr>
              <a:t>Pre-Sales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" y="172821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9 processes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4892" y="140817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34056" y="1033271"/>
            <a:ext cx="2121408" cy="932688"/>
          </a:xfrm>
          <a:prstGeom prst="rect">
            <a:avLst/>
          </a:prstGeom>
          <a:solidFill>
            <a:srgbClr val="EBF9F1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34056" y="1033271"/>
            <a:ext cx="59436" cy="932688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44568" y="1069848"/>
            <a:ext cx="274320" cy="210312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4568" y="105156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114300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375623"/>
                </a:solidFill>
                <a:latin typeface="Calibri"/>
              </a:rPr>
              <a:t>Search &amp; Planning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172821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10 processes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140817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33772" y="1033271"/>
            <a:ext cx="2121408" cy="932688"/>
          </a:xfrm>
          <a:prstGeom prst="rect">
            <a:avLst/>
          </a:prstGeom>
          <a:solidFill>
            <a:srgbClr val="FEF9E7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33772" y="1033271"/>
            <a:ext cx="59436" cy="932688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44283" y="1069848"/>
            <a:ext cx="274320" cy="21031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44283" y="105156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2644" y="114300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C55A11"/>
                </a:solidFill>
                <a:latin typeface="Calibri"/>
              </a:rPr>
              <a:t>Offer &amp; Pricing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2644" y="172821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15 processes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64323" y="140817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33488" y="1033271"/>
            <a:ext cx="2121408" cy="932688"/>
          </a:xfrm>
          <a:prstGeom prst="rect">
            <a:avLst/>
          </a:prstGeom>
          <a:solidFill>
            <a:srgbClr val="F5EE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33488" y="1033271"/>
            <a:ext cx="59436" cy="932688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0" y="1069848"/>
            <a:ext cx="274320" cy="210312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105156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114300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6C3483"/>
                </a:solidFill>
                <a:latin typeface="Calibri"/>
              </a:rPr>
              <a:t>Reservation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172821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9 processes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64040" y="140817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33204" y="1033271"/>
            <a:ext cx="2121408" cy="932688"/>
          </a:xfrm>
          <a:prstGeom prst="rect">
            <a:avLst/>
          </a:prstGeom>
          <a:solidFill>
            <a:srgbClr val="EBF5FB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33204" y="1033271"/>
            <a:ext cx="59436" cy="9326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443716" y="1069848"/>
            <a:ext cx="274320" cy="21031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43716" y="105156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2076" y="114300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003366"/>
                </a:solidFill>
                <a:latin typeface="Calibri"/>
              </a:rPr>
              <a:t>Booking &amp; Order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52076" y="172821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21 processes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" y="2450592"/>
            <a:ext cx="2121408" cy="932688"/>
          </a:xfrm>
          <a:prstGeom prst="rect">
            <a:avLst/>
          </a:prstGeom>
          <a:solidFill>
            <a:srgbClr val="FDF2D0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34340" y="2450592"/>
            <a:ext cx="59436" cy="932688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244852" y="2487168"/>
            <a:ext cx="274320" cy="210312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44852" y="246888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3212" y="256032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7D6608"/>
                </a:solidFill>
                <a:latin typeface="Calibri"/>
              </a:rPr>
              <a:t>Payment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3212" y="314553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8 processes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64892" y="282549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34056" y="2450592"/>
            <a:ext cx="2121408" cy="932688"/>
          </a:xfrm>
          <a:prstGeom prst="rect">
            <a:avLst/>
          </a:prstGeom>
          <a:solidFill>
            <a:srgbClr val="E8F8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34056" y="2450592"/>
            <a:ext cx="59436" cy="932688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44568" y="2487168"/>
            <a:ext cx="274320" cy="210312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44568" y="246888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52928" y="256032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1E8449"/>
                </a:solidFill>
                <a:latin typeface="Calibri"/>
              </a:rPr>
              <a:t>Fulfillment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52928" y="314553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11 processes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64608" y="282549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33772" y="2450592"/>
            <a:ext cx="2121408" cy="932688"/>
          </a:xfrm>
          <a:prstGeom prst="rect">
            <a:avLst/>
          </a:prstGeom>
          <a:solidFill>
            <a:srgbClr val="EAFAF1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33772" y="2450592"/>
            <a:ext cx="59436" cy="932688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844283" y="2487168"/>
            <a:ext cx="274320" cy="210312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44283" y="246888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52644" y="256032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117A65"/>
                </a:solidFill>
                <a:latin typeface="Calibri"/>
              </a:rPr>
              <a:t>Pre-Trip Info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52644" y="314553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7 processes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164323" y="282549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33488" y="2450592"/>
            <a:ext cx="2121408" cy="932688"/>
          </a:xfrm>
          <a:prstGeom prst="rect">
            <a:avLst/>
          </a:prstGeom>
          <a:solidFill>
            <a:srgbClr val="E8F4FD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333488" y="2450592"/>
            <a:ext cx="59436" cy="93268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144000" y="2487168"/>
            <a:ext cx="274320" cy="21031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00" y="246888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452360" y="256032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2E86C1"/>
                </a:solidFill>
                <a:latin typeface="Calibri"/>
              </a:rPr>
              <a:t>In-Trip Services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314553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4 processes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464040" y="282549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633204" y="2450592"/>
            <a:ext cx="2121408" cy="932688"/>
          </a:xfrm>
          <a:prstGeom prst="rect">
            <a:avLst/>
          </a:prstGeom>
          <a:solidFill>
            <a:srgbClr val="FFF3CD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633204" y="2450592"/>
            <a:ext cx="59436" cy="932688"/>
          </a:xfrm>
          <a:prstGeom prst="rect">
            <a:avLst/>
          </a:prstGeom>
          <a:solidFill>
            <a:srgbClr val="7D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443716" y="2487168"/>
            <a:ext cx="274320" cy="210312"/>
          </a:xfrm>
          <a:prstGeom prst="rect">
            <a:avLst/>
          </a:prstGeom>
          <a:solidFill>
            <a:srgbClr val="7D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1443716" y="246888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752076" y="256032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7D4E00"/>
                </a:solidFill>
                <a:latin typeface="Calibri"/>
              </a:rPr>
              <a:t>Disruption Mgmt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752076" y="314553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9 processes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370564" y="3163824"/>
            <a:ext cx="347472" cy="16459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370564" y="3145536"/>
            <a:ext cx="347472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NEW V1.2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4340" y="3867912"/>
            <a:ext cx="2121408" cy="932688"/>
          </a:xfrm>
          <a:prstGeom prst="rect">
            <a:avLst/>
          </a:prstGeom>
          <a:solidFill>
            <a:srgbClr val="FEF5E7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34340" y="3867912"/>
            <a:ext cx="59436" cy="932688"/>
          </a:xfrm>
          <a:prstGeom prst="rect">
            <a:avLst/>
          </a:prstGeom>
          <a:solidFill>
            <a:srgbClr val="A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244852" y="3904488"/>
            <a:ext cx="274320" cy="210312"/>
          </a:xfrm>
          <a:prstGeom prst="rect">
            <a:avLst/>
          </a:prstGeom>
          <a:solidFill>
            <a:srgbClr val="A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244852" y="388620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53212" y="397764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A04000"/>
                </a:solidFill>
                <a:latin typeface="Calibri"/>
              </a:rPr>
              <a:t>A/S Exchange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53212" y="456285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9 processes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564892" y="424281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34056" y="3867912"/>
            <a:ext cx="2121408" cy="932688"/>
          </a:xfrm>
          <a:prstGeom prst="rect">
            <a:avLst/>
          </a:prstGeom>
          <a:solidFill>
            <a:srgbClr val="FDEDE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734056" y="3867912"/>
            <a:ext cx="59436" cy="932688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544568" y="3904488"/>
            <a:ext cx="274320" cy="210312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44568" y="388620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52928" y="397764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922B21"/>
                </a:solidFill>
                <a:latin typeface="Calibri"/>
              </a:rPr>
              <a:t>A/S Refund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52928" y="456285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16 processes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64608" y="424281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33772" y="3867912"/>
            <a:ext cx="2121408" cy="932688"/>
          </a:xfrm>
          <a:prstGeom prst="rect">
            <a:avLst/>
          </a:prstGeom>
          <a:solidFill>
            <a:srgbClr val="FCF3C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5033772" y="3867912"/>
            <a:ext cx="59436" cy="932688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844283" y="3904488"/>
            <a:ext cx="274320" cy="210312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844283" y="388620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152644" y="397764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7D6608"/>
                </a:solidFill>
                <a:latin typeface="Calibri"/>
              </a:rPr>
              <a:t>A/S Complaint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52644" y="456285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9 processes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64323" y="424281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33488" y="3867912"/>
            <a:ext cx="2121408" cy="932688"/>
          </a:xfrm>
          <a:prstGeom prst="rect">
            <a:avLst/>
          </a:prstGeom>
          <a:solidFill>
            <a:srgbClr val="F4ECF7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333488" y="3867912"/>
            <a:ext cx="59436" cy="932688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144000" y="3904488"/>
            <a:ext cx="274320" cy="210312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44000" y="388620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52360" y="397764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6C3483"/>
                </a:solidFill>
                <a:latin typeface="Calibri"/>
              </a:rPr>
              <a:t>Settlement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52360" y="456285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7 processes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64040" y="4242816"/>
            <a:ext cx="160020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400" b="1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33204" y="3867912"/>
            <a:ext cx="2121408" cy="932688"/>
          </a:xfrm>
          <a:prstGeom prst="rect">
            <a:avLst/>
          </a:prstGeom>
          <a:solidFill>
            <a:srgbClr val="F2F3F4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33204" y="3867912"/>
            <a:ext cx="59436" cy="932688"/>
          </a:xfrm>
          <a:prstGeom prst="rect">
            <a:avLst/>
          </a:prstGeom>
          <a:solidFill>
            <a:srgbClr val="42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443716" y="3904488"/>
            <a:ext cx="274320" cy="210312"/>
          </a:xfrm>
          <a:prstGeom prst="rect">
            <a:avLst/>
          </a:prstGeom>
          <a:solidFill>
            <a:srgbClr val="42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443716" y="3886200"/>
            <a:ext cx="274320" cy="246888"/>
          </a:xfrm>
          <a:prstGeom prst="rect">
            <a:avLst/>
          </a:prstGeom>
          <a:noFill/>
        </p:spPr>
        <p:txBody>
          <a:bodyPr wrap="square" lIns="0" rIns="38100" tIns="12700" bIns="2540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752076" y="3977640"/>
            <a:ext cx="1645919" cy="512064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50" b="1" i="0">
                <a:solidFill>
                  <a:srgbClr val="424949"/>
                </a:solidFill>
                <a:latin typeface="Calibri"/>
              </a:rPr>
              <a:t>Governance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752076" y="4562856"/>
            <a:ext cx="1892807" cy="201168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16 processes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1846052" y="2071116"/>
            <a:ext cx="256032" cy="32004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846052" y="3488436"/>
            <a:ext cx="256032" cy="32004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1300" b="1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0" y="651967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EUDIT Working Group  ·  BRM V1.2  ·  March 2026  ·  CoRoM · OSDM · OMSA · TOMP · FerryGateway · NeTEx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54864"/>
            <a:ext cx="11731752" cy="475488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EUDIT Sales Process Taxonomy — 15 Steps × 160 Processes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521207"/>
            <a:ext cx="11731752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850" b="0" i="0">
                <a:solidFill>
                  <a:srgbClr val="CADCFC"/>
                </a:solidFill>
                <a:latin typeface="Calibri"/>
              </a:rPr>
              <a:t>CoRoM §6  ·  OSDM UC1-15  ·  OMSA OGC Processes  ·  TOMP Booking Lifecycle  ·  FerryGateway  ·  NeTEx / GTFS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914400"/>
            <a:ext cx="3831336" cy="1046073"/>
          </a:xfrm>
          <a:prstGeom prst="rect">
            <a:avLst/>
          </a:prstGeom>
          <a:solidFill>
            <a:srgbClr val="E8F4FD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914400"/>
            <a:ext cx="50292" cy="104607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324" y="914400"/>
            <a:ext cx="3781044" cy="26517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" y="914400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01  ·  Pre-Sales   —   9 processes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216152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Catalogue Consultation  ·  Fare Product Discovery  ·  Station &amp; Stop Lookup  ·  Ext. Data Source Registry (OMSA)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8808" y="914400"/>
            <a:ext cx="3831336" cy="1046073"/>
          </a:xfrm>
          <a:prstGeom prst="rect">
            <a:avLst/>
          </a:prstGeom>
          <a:solidFill>
            <a:srgbClr val="EBF9F1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78808" y="914400"/>
            <a:ext cx="50292" cy="1046073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29100" y="914400"/>
            <a:ext cx="3781044" cy="265176"/>
          </a:xfrm>
          <a:prstGeom prst="rect">
            <a:avLst/>
          </a:prstGeom>
          <a:solidFill>
            <a:srgbClr val="375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914400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02  ·  Search &amp; Planning   —   10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1216152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Trip / Timetable Search  ·  Multi-modal Journey Planning  ·  On-Demand Trip Planning  ·  Vessel / Sailing Search (Ferry)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914400"/>
            <a:ext cx="3831336" cy="1046073"/>
          </a:xfrm>
          <a:prstGeom prst="rect">
            <a:avLst/>
          </a:prstGeom>
          <a:solidFill>
            <a:srgbClr val="FEF9E7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914400"/>
            <a:ext cx="50292" cy="1046073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1875" y="914400"/>
            <a:ext cx="3781044" cy="265176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914400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03  ·  Offer &amp; Pricing   —   15 processes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3" y="1216152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Fare Offer Construction  ·  Dynamic / Real-time Pricing  ·  Offer On-Hold (chargeable)  ·  Upsell / Cross-sell Offer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042769"/>
            <a:ext cx="3831336" cy="1046073"/>
          </a:xfrm>
          <a:prstGeom prst="rect">
            <a:avLst/>
          </a:prstGeom>
          <a:solidFill>
            <a:srgbClr val="F5EEF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042769"/>
            <a:ext cx="50292" cy="1046073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6324" y="2042769"/>
            <a:ext cx="3781044" cy="265176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9184" y="2042769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04  ·  Reservation   —   9 processes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2344521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Seat Reservation  ·  Cabin Selection (Ferry)  ·  PRM Space Reservation  ·  Mandatory Reservation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78808" y="2042769"/>
            <a:ext cx="3831336" cy="1046073"/>
          </a:xfrm>
          <a:prstGeom prst="rect">
            <a:avLst/>
          </a:prstGeom>
          <a:solidFill>
            <a:srgbClr val="EBF5FB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78808" y="2042769"/>
            <a:ext cx="50292" cy="1046073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29100" y="2042769"/>
            <a:ext cx="3781044" cy="265176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2042769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05  ·  Booking &amp; Order   —   21 processes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70248" y="2344521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Two-Stage Commit  ·  Offer Selection into Package  ·  Traveller Management (OMSA)  ·  Physical Asset Assignment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01583" y="2042769"/>
            <a:ext cx="3831336" cy="1046073"/>
          </a:xfrm>
          <a:prstGeom prst="rect">
            <a:avLst/>
          </a:prstGeom>
          <a:solidFill>
            <a:srgbClr val="FDF2D0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01583" y="2042769"/>
            <a:ext cx="50292" cy="1046073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51875" y="2042769"/>
            <a:ext cx="3781044" cy="265176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4736" y="2042769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06  ·  Payment   —   8 processes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3023" y="2344521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Card Payment Auth  ·  Travel Account Debit  ·  Split Payment  ·  B2B Invoice / Settlement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3171139"/>
            <a:ext cx="3831336" cy="1046073"/>
          </a:xfrm>
          <a:prstGeom prst="rect">
            <a:avLst/>
          </a:prstGeom>
          <a:solidFill>
            <a:srgbClr val="E8F8E8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56032" y="3171139"/>
            <a:ext cx="50292" cy="1046073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06324" y="3171139"/>
            <a:ext cx="3781044" cy="265176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3171139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07  ·  Fulfillment   —   11 processes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3472891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Barcode/QR Issuance (Aztec)  ·  BoB BCT (CBOR/COSE)  ·  NFC / Smart Card Fulfillment  ·  Travel Document Retrieval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178808" y="3171139"/>
            <a:ext cx="3831336" cy="1046073"/>
          </a:xfrm>
          <a:prstGeom prst="rect">
            <a:avLst/>
          </a:prstGeom>
          <a:solidFill>
            <a:srgbClr val="EAFAF1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178808" y="3171139"/>
            <a:ext cx="50292" cy="1046073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229100" y="3171139"/>
            <a:ext cx="3781044" cy="265176"/>
          </a:xfrm>
          <a:prstGeom prst="rect">
            <a:avLst/>
          </a:prstGeom>
          <a:solidFill>
            <a:srgbClr val="117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51960" y="3171139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08  ·  Pre-Trip Info   —   7 processes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0248" y="3472891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Booking Confirmation Delivery  ·  Journey Reminder  ·  Platform / Track Push  ·  Connection Risk Warning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01583" y="3171139"/>
            <a:ext cx="3831336" cy="1046073"/>
          </a:xfrm>
          <a:prstGeom prst="rect">
            <a:avLst/>
          </a:prstGeom>
          <a:solidFill>
            <a:srgbClr val="E8F4FD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101583" y="3171139"/>
            <a:ext cx="50292" cy="1046073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51875" y="3171139"/>
            <a:ext cx="3781044" cy="2651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74736" y="3171139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09  ·  In-Trip Services   —   4 processes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93023" y="3472891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Real-time Journey Tracking  ·  Delay Notification (push)  ·  On-board Service Access  ·  Emergency Assistance Trigger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56032" y="4299508"/>
            <a:ext cx="3831336" cy="1046073"/>
          </a:xfrm>
          <a:prstGeom prst="rect">
            <a:avLst/>
          </a:prstGeom>
          <a:solidFill>
            <a:srgbClr val="FFF3CD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" y="4299508"/>
            <a:ext cx="50292" cy="1046073"/>
          </a:xfrm>
          <a:prstGeom prst="rect">
            <a:avLst/>
          </a:prstGeom>
          <a:solidFill>
            <a:srgbClr val="7D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06324" y="4299508"/>
            <a:ext cx="3781044" cy="265176"/>
          </a:xfrm>
          <a:prstGeom prst="rect">
            <a:avLst/>
          </a:prstGeom>
          <a:solidFill>
            <a:srgbClr val="7D4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9184" y="4299508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10  ·  Disruption Mgmt   —   9 processes  ★ NEW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7472" y="4601260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Pre-Departure Disruption Alert  ·  In-Trip Disruption Notification  ·  Alternative Route Proposal  ·  Situation Exchange (NeTEx)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78808" y="4299508"/>
            <a:ext cx="3831336" cy="1046073"/>
          </a:xfrm>
          <a:prstGeom prst="rect">
            <a:avLst/>
          </a:prstGeom>
          <a:solidFill>
            <a:srgbClr val="FEF5E7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78808" y="4299508"/>
            <a:ext cx="50292" cy="1046073"/>
          </a:xfrm>
          <a:prstGeom prst="rect">
            <a:avLst/>
          </a:prstGeom>
          <a:solidFill>
            <a:srgbClr val="A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29100" y="4299508"/>
            <a:ext cx="3781044" cy="265176"/>
          </a:xfrm>
          <a:prstGeom prst="rect">
            <a:avLst/>
          </a:prstGeom>
          <a:solidFill>
            <a:srgbClr val="A04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51960" y="4299508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11  ·  A/S Exchange   —   9 processes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270248" y="4601260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Outward Journey Exchange  ·  Travel Date / Time Change  ·  Class Upgrade  ·  Exchange Fee Waiver (Overrule Code)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01583" y="4299508"/>
            <a:ext cx="3831336" cy="1046073"/>
          </a:xfrm>
          <a:prstGeom prst="rect">
            <a:avLst/>
          </a:prstGeom>
          <a:solidFill>
            <a:srgbClr val="FDEDEC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01583" y="4299508"/>
            <a:ext cx="50292" cy="1046073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51875" y="4299508"/>
            <a:ext cx="3781044" cy="265176"/>
          </a:xfrm>
          <a:prstGeom prst="rect">
            <a:avLst/>
          </a:prstGeom>
          <a:solidFill>
            <a:srgbClr val="922B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74736" y="4299508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12  ·  A/S Refund   —   16 processes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3" y="4601260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Standard Cancellation  ·  Refund Claim Submission (Phase 1)  ·  Refund Claim Confirmation (Phase 2)  ·  Voucher Issuance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032" y="5427878"/>
            <a:ext cx="3831336" cy="1046073"/>
          </a:xfrm>
          <a:prstGeom prst="rect">
            <a:avLst/>
          </a:prstGeom>
          <a:solidFill>
            <a:srgbClr val="FCF3C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56032" y="5427878"/>
            <a:ext cx="50292" cy="1046073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06324" y="5427878"/>
            <a:ext cx="3781044" cy="265176"/>
          </a:xfrm>
          <a:prstGeom prst="rect">
            <a:avLst/>
          </a:prstGeom>
          <a:solidFill>
            <a:srgbClr val="7D6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9184" y="5427878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13  ·  A/S Complaint   —   9 processes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7472" y="5729630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Delay Comp. Claim (PRR Art.17)  ·  PRM Assistance Complaint  ·  Travel Guarantee Activation  ·  Complaint Status Tracking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178808" y="5427878"/>
            <a:ext cx="3831336" cy="1046073"/>
          </a:xfrm>
          <a:prstGeom prst="rect">
            <a:avLst/>
          </a:prstGeom>
          <a:solidFill>
            <a:srgbClr val="F4ECF7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78808" y="5427878"/>
            <a:ext cx="50292" cy="1046073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29100" y="5427878"/>
            <a:ext cx="3781044" cy="265176"/>
          </a:xfrm>
          <a:prstGeom prst="rect">
            <a:avLst/>
          </a:prstGeom>
          <a:solidFill>
            <a:srgbClr val="6C34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51960" y="5427878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14  ·  Settlement   —   7 processes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270248" y="5729630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Revenue Settlement  ·  VAT Reporting (dom./int.)  ·  Clearing House Submission  ·  Corporate Reconciliation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01583" y="5427878"/>
            <a:ext cx="3831336" cy="1046073"/>
          </a:xfrm>
          <a:prstGeom prst="rect">
            <a:avLst/>
          </a:prstGeom>
          <a:solidFill>
            <a:srgbClr val="F2F3F4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101583" y="5427878"/>
            <a:ext cx="50292" cy="1046073"/>
          </a:xfrm>
          <a:prstGeom prst="rect">
            <a:avLst/>
          </a:prstGeom>
          <a:solidFill>
            <a:srgbClr val="42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51875" y="5427878"/>
            <a:ext cx="3781044" cy="265176"/>
          </a:xfrm>
          <a:prstGeom prst="rect">
            <a:avLst/>
          </a:prstGeom>
          <a:solidFill>
            <a:srgbClr val="42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174736" y="5427878"/>
            <a:ext cx="3721608" cy="265176"/>
          </a:xfrm>
          <a:prstGeom prst="rect">
            <a:avLst/>
          </a:prstGeom>
          <a:noFill/>
        </p:spPr>
        <p:txBody>
          <a:bodyPr wrap="square" lIns="0" rIns="38100" tIns="0" bIns="25400" anchor="ctr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  15  ·  Governance   —   16 processes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193023" y="5729630"/>
            <a:ext cx="3685032" cy="726033"/>
          </a:xfrm>
          <a:prstGeom prst="rect">
            <a:avLst/>
          </a:prstGeom>
          <a:noFill/>
        </p:spPr>
        <p:txBody>
          <a:bodyPr wrap="square" lIns="0" rIns="38100" tIns="25400" bIns="25400">
            <a:spAutoFit/>
          </a:bodyPr>
          <a:lstStyle/>
          <a:p>
            <a:pPr algn="l"/>
            <a:r>
              <a:rPr sz="700" b="0" i="1">
                <a:solidFill>
                  <a:srgbClr val="64748B"/>
                </a:solidFill>
                <a:latin typeface="Calibri"/>
              </a:rPr>
              <a:t>OAuth 2.0 / mTLS / JWT  ·  API Versioning &amp; Lifecycle  ·  GDPR Data Retention &amp; Deletion  ·  Conformance Declaration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74320" y="6473952"/>
            <a:ext cx="11640312" cy="22860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★ New step added in BRM V1.2   |   Processes derived from OMSA, OSDM, CoRoM, TOMP, FerryGateway</a:t>
            </a:r>
          </a:p>
        </p:txBody>
      </p:sp>
      <p:sp>
        <p:nvSpPr>
          <p:cNvPr id="81" name="Rectangle 80"/>
          <p:cNvSpPr/>
          <p:nvPr/>
        </p:nvSpPr>
        <p:spPr>
          <a:xfrm>
            <a:off x="0" y="651967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EUDIT Working Group  ·  BRM V1.2  ·  March 2026  ·  CoRoM · OSDM · OMSA · TOMP · FerryGateway · NeTEx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8755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45720"/>
            <a:ext cx="7772400" cy="5029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1950" b="1" i="0">
                <a:solidFill>
                  <a:srgbClr val="FFFFFF"/>
                </a:solidFill>
                <a:latin typeface="Calibri"/>
              </a:rPr>
              <a:t>Requirements Coverage  —  260 Requirements across 15 Process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548640"/>
            <a:ext cx="7772400" cy="32004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l"/>
            <a:r>
              <a:rPr sz="900" b="0" i="0">
                <a:solidFill>
                  <a:srgbClr val="CADCFC"/>
                </a:solidFill>
                <a:latin typeface="Calibri"/>
              </a:rPr>
              <a:t>BRM V1.2  ·  EUDIT Working Group  ·  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36576"/>
            <a:ext cx="914400" cy="45720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502920"/>
            <a:ext cx="914400" cy="36576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650" b="0" i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90304" y="36576"/>
            <a:ext cx="914400" cy="45720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2000" b="1" i="0">
                <a:solidFill>
                  <a:srgbClr val="CADCFC"/>
                </a:solidFill>
                <a:latin typeface="Calibri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90304" y="502920"/>
            <a:ext cx="914400" cy="36576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650" b="0" i="0">
                <a:solidFill>
                  <a:srgbClr val="CADCFC"/>
                </a:solidFill>
                <a:latin typeface="Calibri"/>
              </a:rPr>
              <a:t>Business
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9567" y="36576"/>
            <a:ext cx="914400" cy="45720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2000" b="1" i="0">
                <a:solidFill>
                  <a:srgbClr val="93C5FD"/>
                </a:solidFill>
                <a:latin typeface="Calibri"/>
              </a:rPr>
              <a:t>130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59567" y="502920"/>
            <a:ext cx="914400" cy="36576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650" b="0" i="0">
                <a:solidFill>
                  <a:srgbClr val="93C5FD"/>
                </a:solidFill>
                <a:latin typeface="Calibri"/>
              </a:rPr>
              <a:t>Functional
Reqs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28832" y="36576"/>
            <a:ext cx="914400" cy="45720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2000" b="1" i="0">
                <a:solidFill>
                  <a:srgbClr val="6EE7B7"/>
                </a:solidFill>
                <a:latin typeface="Calibri"/>
              </a:rPr>
              <a:t>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28832" y="502920"/>
            <a:ext cx="914400" cy="365760"/>
          </a:xfrm>
          <a:prstGeom prst="rect">
            <a:avLst/>
          </a:prstGeom>
          <a:noFill/>
        </p:spPr>
        <p:txBody>
          <a:bodyPr wrap="square" lIns="0" rIns="38100" tIns="0" bIns="25400">
            <a:spAutoFit/>
          </a:bodyPr>
          <a:lstStyle/>
          <a:p>
            <a:pPr algn="ctr"/>
            <a:r>
              <a:rPr sz="650" b="0" i="0">
                <a:solidFill>
                  <a:srgbClr val="6EE7B7"/>
                </a:solidFill>
                <a:latin typeface="Calibri"/>
              </a:rPr>
              <a:t>Technical
Reqs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1078992"/>
            <a:ext cx="6949440" cy="539496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051560"/>
            <a:ext cx="4663440" cy="3429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544568"/>
            <a:ext cx="4663440" cy="19476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519672"/>
            <a:ext cx="1218895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11640312" cy="274320"/>
          </a:xfrm>
          <a:prstGeom prst="rect">
            <a:avLst/>
          </a:prstGeom>
          <a:noFill/>
        </p:spPr>
        <p:txBody>
          <a:bodyPr wrap="square" lIns="38100" rIns="38100" tIns="25400" bIns="25400">
            <a:spAutoFit/>
          </a:bodyPr>
          <a:lstStyle/>
          <a:p>
            <a:pPr algn="ctr"/>
            <a:r>
              <a:rPr sz="700" b="0" i="0">
                <a:solidFill>
                  <a:srgbClr val="94A3B8"/>
                </a:solidFill>
                <a:latin typeface="Calibri"/>
              </a:rPr>
              <a:t>EUDIT Working Group  ·  BRM V1.2  ·  March 2026  ·  CoRoM · OSDM · OMSA · TOMP · FerryGateway · NeTEx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