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74720"/>
            <a:ext cx="12188952" cy="731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EUDIT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BDD7EE"/>
                </a:solidFill>
              </a:rPr>
              <a:t>Modularising the Technical Specification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A0C4FF"/>
                </a:solidFill>
              </a:rPr>
              <a:t>Options for cross-standard functional module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035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80A0C0"/>
                </a:solidFill>
              </a:rPr>
              <a:t>Phase 1 — The Kidling  ·  Standards: OSDM · TOMP-API · OMSA · BoB · FerryGateway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2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62456"/>
            <a:ext cx="50292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62456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325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Current setup per standard — a structural overview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764792"/>
            <a:ext cx="50292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764792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72821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Current setup — key cross-spec observations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167128"/>
            <a:ext cx="50292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167128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13055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Mode-specific extensions — design principle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569464"/>
            <a:ext cx="50292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569464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253288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Cross-cutting functional domains (13-domain matrix)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971800"/>
            <a:ext cx="50292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971800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935224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Five modularisation options — overview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374136"/>
            <a:ext cx="50292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374136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3375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Option A — Functional Layer Model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776472"/>
            <a:ext cx="50292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776472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373989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Option B — Travel Lifecycle Model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178808"/>
            <a:ext cx="50292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178808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1422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Option C — Actor / Role-Based Model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581144"/>
            <a:ext cx="50292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581144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0160" y="454456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Option D — Transmodel Entity-Centric Model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983480"/>
            <a:ext cx="50292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4983480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80160" y="4946904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Option E — Hybrid: Lifecycle × Functional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385816"/>
            <a:ext cx="50292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5385816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80160" y="53492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Comparison — scoring across six criteria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5788152"/>
            <a:ext cx="502920" cy="2926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5788152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575157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</a:rPr>
              <a:t>Open questions for discussion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Current Setup — Standards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DD7EE"/>
                </a:solidFill>
              </a:rPr>
              <a:t>Six standards, four design traditions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3 / 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234440"/>
          <a:ext cx="11612880" cy="4864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417320"/>
                <a:gridCol w="594360"/>
                <a:gridCol w="7680960"/>
              </a:tblGrid>
              <a:tr h="694944"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</a:rPr>
                        <a:t>Standard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</a:rPr>
                        <a:t>Format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</a:rPr>
                        <a:t>Ops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</a:rPr>
                        <a:t>Internal grouping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F4E79"/>
                          </a:solidFill>
                        </a:rPr>
                        <a:t>OSDM 3.7.1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OpenAPI 3.0.3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93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27 named tags over 68 paths · 491 schemas · one 37k-line file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F4E79"/>
                          </a:solidFill>
                        </a:rPr>
                        <a:t>TOMP-API 2.0.0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OpenAPI 3.0.0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11 tags · OGC API Processes pattern · async callbacks · 137 schemas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F4E79"/>
                          </a:solidFill>
                        </a:rPr>
                        <a:t>TOMP-API-MP 2.0.0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OpenAPI 3.0.0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1 tag (notifications) · reverse channel · all $refs to TOMP-API sibling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F4E79"/>
                          </a:solidFill>
                        </a:rPr>
                        <a:t>OMSA 0.1.0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OpenAPI 3.0.0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4 tags · same OGC Processes architecture as TOMP-API · draft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F4E79"/>
                          </a:solidFill>
                        </a:rPr>
                        <a:t>BoB suite (×10)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Swagger 2.0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118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10 independent microservice files · no cross-file $ref · flat definitions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F4E79"/>
                          </a:solidFill>
                        </a:rPr>
                        <a:t>FerryGateway 1.3.1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XSD 1.0 (RPC)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15 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15 request/response pairs · 179 complexTypes · xs:extension inheritance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Current Setup — Key Cross-Spec Observations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4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98448"/>
            <a:ext cx="34747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9844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261872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</a:rPr>
              <a:t>TOMP-API and OMSA share an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536192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Both use the OGC API Processes pattern (/processes/{op}/execution), identical 5-scheme security, and async job callbacks — but differ in minor naming (/execute vs /execution).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295144"/>
            <a:ext cx="34747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229514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258568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</a:rPr>
              <a:t>BoB spatial types are duplicated across 5 of 10 files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532888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geoPosition, circle, polygon, and polyline are independently redefined in BoB Traveller, Product, Validation, Inspection, and Ticket — no shared library exists. A shared schema module would eliminate this.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291840"/>
            <a:ext cx="34747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32918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255264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</a:rPr>
              <a:t>Transport modes require genuinely different process flows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529584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Rail (OSDM) needs seat reservations and fare-zone structures; shared mobility (TOMP-API) needs asset access codes and pausing; ferries (FerryGateway) bundle vehicle + passenger booking; BoB adds physical token inspection. Any module boundary must accommodate mode-specific extensions.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288536"/>
            <a:ext cx="34747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428853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251960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</a:rPr>
              <a:t>FerryGateway bundles multiple lifecycle phases per message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526280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The Book, Reservation, and ConfirmReservation pairs each span what other standards handle as separate API calls. Any module boundary must acknowledge FerryGateway's coarser granularity.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285232"/>
            <a:ext cx="347472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528523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248656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</a:rPr>
              <a:t>Domain 9 (Validation &amp; Inspection) is BoB-only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522976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No other standard in the set covers physical token inspection. This domain requires a deliberate TS decision: dedicated module or sub-section of Fulfillment pending other standards adding inspection?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Mode-Specific Extensions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DD7EE"/>
                </a:solidFill>
              </a:rPr>
              <a:t>Transport modes differ in process flows, endpoints, and concepts — modules should support mode profiles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5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61872"/>
            <a:ext cx="5669280" cy="8229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53312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BASE MODULE INTERFACE
(common endpoints, schemas, process flow)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08483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CCCCCC"/>
                </a:solidFill>
              </a:rPr>
              <a:t>extends  ↓  (mode-specific profile adds to base)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523744"/>
            <a:ext cx="1828800" cy="34747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" y="25603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Rail  (OSDM)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871216"/>
            <a:ext cx="1828800" cy="1490472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926080"/>
            <a:ext cx="1700784" cy="1380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</a:rPr>
              <a:t>Seat reservation
Fare zones
Delay certificates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94560" y="2523744"/>
            <a:ext cx="182880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49424" y="25603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Shared Mobility  (TOMP-API)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94560" y="2871216"/>
            <a:ext cx="1828800" cy="1490472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7712" y="2926080"/>
            <a:ext cx="1700784" cy="1380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</a:rPr>
              <a:t>Asset access codes
Pausing a leg
Damage reporting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2523744"/>
            <a:ext cx="1828800" cy="347472"/>
          </a:xfrm>
          <a:prstGeom prst="rect">
            <a:avLst/>
          </a:prstGeom>
          <a:solidFill>
            <a:srgbClr val="007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69664" y="25603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Ferry  (FerryGateway)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0" y="2871216"/>
            <a:ext cx="1828800" cy="1490472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87952" y="2926080"/>
            <a:ext cx="1700784" cy="1380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</a:rPr>
              <a:t>Vehicle + passenger
Sailing schedules
Vehicle constraints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453128"/>
            <a:ext cx="1828800" cy="34747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184" y="44897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Public Transit  (BoB)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800600"/>
            <a:ext cx="1828800" cy="1490472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4855464"/>
            <a:ext cx="1700784" cy="1380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</a:rPr>
              <a:t>Zone ticketing
Physical inspection
Fare gate validation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94560" y="4453128"/>
            <a:ext cx="182880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49424" y="44897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On-Demand  (OMSA)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94560" y="4800600"/>
            <a:ext cx="1828800" cy="1490472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7712" y="4855464"/>
            <a:ext cx="1700784" cy="1380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</a:rPr>
              <a:t>Booking windows
Real-time dispatch
Pick-up confirmation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4453128"/>
            <a:ext cx="1828800" cy="347472"/>
          </a:xfrm>
          <a:prstGeom prst="rect">
            <a:avLst/>
          </a:prstGeom>
          <a:solidFill>
            <a:srgbClr val="007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69664" y="44897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EV / Car-share  (TOMP ext.)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0" y="4800600"/>
            <a:ext cx="1828800" cy="1490472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87952" y="4855464"/>
            <a:ext cx="1700784" cy="1380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</a:rPr>
              <a:t>Charging sessions
Car access codes
Fleet telemetry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1261872"/>
            <a:ext cx="5806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</a:rPr>
              <a:t>Why mode-specific extensions matter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1709928"/>
            <a:ext cx="73152" cy="20116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664208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</a:rPr>
              <a:t>Process flow differences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1883664"/>
            <a:ext cx="56692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Rail booking requires multi-step seat selection before payment; bike-share booking requires only an asset-unlock command. The same 'Booking' module cannot prescribe a single flow for both.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72200" y="2624328"/>
            <a:ext cx="73152" cy="20116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09360" y="2578608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</a:rPr>
              <a:t>Endpoint &amp; schema differences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2798064"/>
            <a:ext cx="56692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Ferry adds GetSailings, vehicle-capacity constraints, and GetBusTransfer. BoB adds physical token validation endpoints. These have no equivalent in other modes.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72200" y="3538728"/>
            <a:ext cx="73152" cy="20116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0" y="3493008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</a:rPr>
              <a:t>Concept differences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9360" y="3712464"/>
            <a:ext cx="56692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OSDM defines FARE ZONE, SEAT RESERVATION, EXCHANGE ELEMENT; TOMP-API defines assetState, supportType, legReference. Mode-specific sub-sections can define these without polluting the base.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72200" y="4453128"/>
            <a:ext cx="73152" cy="20116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09360" y="4407408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</a:rPr>
              <a:t>Design principle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4626864"/>
            <a:ext cx="56692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</a:rPr>
              <a:t>Each module should define a common base interface (mandatory) plus zero or more mode-specific profiles (optional annex sections). This prevents fragmentation while enabling full interoperability.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72200" y="5577840"/>
            <a:ext cx="5806440" cy="749808"/>
          </a:xfrm>
          <a:prstGeom prst="rect">
            <a:avLst/>
          </a:prstGeom>
          <a:solidFill>
            <a:srgbClr val="FFF5E0"/>
          </a:solidFill>
          <a:ln w="9525">
            <a:solidFill>
              <a:srgbClr val="D6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63640" y="5650992"/>
            <a:ext cx="564184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8A00"/>
                </a:solidFill>
              </a:rPr>
              <a:t>All five modularisation options presented in this deck apply this principle — diagrams on each option slide show the mode-extensions layer explicitly.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Cross-Cutting Functional Domains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DD7EE"/>
                </a:solidFill>
              </a:rPr>
              <a:t>13 domains identified across all standards  ·  ✓ = covered  ·  — = not present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6 / 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82880" y="1207008"/>
          <a:ext cx="11804903" cy="5248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3977639"/>
                <a:gridCol w="1243584"/>
                <a:gridCol w="1243584"/>
                <a:gridCol w="1243584"/>
                <a:gridCol w="1243584"/>
                <a:gridCol w="1243584"/>
                <a:gridCol w="1243584"/>
              </a:tblGrid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Domain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OSDM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TOMP-API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TOMP-MP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OMSA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BoB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</a:rPr>
                        <a:t>FerryGW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Network &amp; Service Discovery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Journey / Trip Planning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Pricing &amp; Offers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Booking &amp; Reservation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Fulfillment &amp; Ticketing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After-Sales (Refund / Exchange / Cancel)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Traveller &amp; Account Management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Asset &amp; Token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Validation &amp; Inspection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Notifications &amp; Async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Identity, Auth &amp; Participant Metadata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Documents &amp; Invoices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2E75B6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00000"/>
                          </a:solidFill>
                        </a:rPr>
                        <a:t>Complaints &amp; Support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78644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CCCCCC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Five Modularisation Options —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DD7EE"/>
                </a:solidFill>
              </a:rPr>
              <a:t>Each option applies the mode-specific extensions principle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7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80160"/>
            <a:ext cx="502920" cy="8229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399032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316736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</a:rPr>
              <a:t>Functional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682496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One chapter per functional domain  ·  13 modules  ·  lowest editorial complexity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267712"/>
            <a:ext cx="502920" cy="8229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2386584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304288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</a:rPr>
              <a:t>Travel Lifecycle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670048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One chapter per journey phase  ·  5 phases + cross-cutting  ·  best narrative flow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255264"/>
            <a:ext cx="502920" cy="8229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3374136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2918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</a:rPr>
              <a:t>Actor / Role-Based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65760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One chapter per stakeholder role  ·  5 roles  ·  aligned with wiki/roles.md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4242816"/>
            <a:ext cx="502920" cy="8229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4361688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279392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</a:rPr>
              <a:t>Transmodel Entity-Centric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645152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One chapter per Transmodel entity family  ·  7 entities  ·  maximum Transmodel alignment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5230368"/>
            <a:ext cx="502920" cy="8229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5349240"/>
            <a:ext cx="502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526694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</a:rPr>
              <a:t>Hybrid: Lifecycle × Functional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632704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44444"/>
                </a:solidFill>
              </a:rPr>
              <a:t>Lifecycle phases as top level; functional sub-modules within  ·  6 phases × N sub-modules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Option A — Functional Layer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DD7EE"/>
                </a:solidFill>
              </a:rPr>
              <a:t>One module per functional domain · 13 modules · lowest editorial complexity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8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261872"/>
            <a:ext cx="3200400" cy="5230368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" y="131673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</a:rPr>
              <a:t>Proposed modules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1627632"/>
            <a:ext cx="301752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1.  Network &amp; Service Discovery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2.  Journey / Trip Planning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3.  Pricing &amp; Offers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4.  Booking &amp; Reservation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5.  Fulfillment &amp; Ticketing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6.  After-Sales (Refund / Exchange / Cancel)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7.  Traveller &amp; Account Management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8.  Asset &amp; Token Management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9.  Validation &amp; Inspection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10. Notifications &amp; Async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11. Identity, Auth &amp; Participant Metadata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12. Documents &amp; Invoices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13. Complaints &amp; Support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6144768"/>
            <a:ext cx="3200400" cy="329184"/>
          </a:xfrm>
          <a:prstGeom prst="rect">
            <a:avLst/>
          </a:prstGeom>
          <a:solidFill>
            <a:srgbClr val="FFF5E0"/>
          </a:solidFill>
          <a:ln w="9525">
            <a:solidFill>
              <a:srgbClr val="D6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" y="6190488"/>
            <a:ext cx="30723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8A00"/>
                </a:solidFill>
              </a:rPr>
              <a:t>⊕ Mode profiles added per module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40" y="1261872"/>
            <a:ext cx="4297680" cy="5230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1298448"/>
            <a:ext cx="41330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888888"/>
                </a:solidFill>
              </a:rPr>
              <a:t>Structure overview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30168" y="1572768"/>
            <a:ext cx="4096512" cy="602197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1608" y="1609344"/>
            <a:ext cx="3959352" cy="5656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1.  Network &amp; Discovery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30168" y="2193253"/>
            <a:ext cx="4096512" cy="602197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1608" y="2229829"/>
            <a:ext cx="3959352" cy="5656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2.  Journey Planning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30168" y="2813739"/>
            <a:ext cx="4096512" cy="602197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21608" y="2850315"/>
            <a:ext cx="3959352" cy="5656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4E79"/>
                </a:solidFill>
              </a:rPr>
              <a:t>3.  Pricing &amp; Offers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30168" y="3434225"/>
            <a:ext cx="4096512" cy="602197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21608" y="3470801"/>
            <a:ext cx="3959352" cy="5656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4.  Booking &amp; Reservation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30168" y="4054710"/>
            <a:ext cx="4096512" cy="602197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21608" y="4091286"/>
            <a:ext cx="3959352" cy="5656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5.  Fulfillment &amp; Ticketing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30168" y="4675196"/>
            <a:ext cx="4096512" cy="602197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21608" y="4711772"/>
            <a:ext cx="3959352" cy="5656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4E79"/>
                </a:solidFill>
              </a:rPr>
              <a:t>6.  After-Sales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30168" y="5295682"/>
            <a:ext cx="4096512" cy="602197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21608" y="5332258"/>
            <a:ext cx="3959352" cy="5656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7–13.  Auth · Inspect · 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30168" y="5961888"/>
            <a:ext cx="4096512" cy="438912"/>
          </a:xfrm>
          <a:prstGeom prst="rect">
            <a:avLst/>
          </a:prstGeom>
          <a:solidFill>
            <a:srgbClr val="FFF5E0"/>
          </a:solidFill>
          <a:ln w="9525">
            <a:solidFill>
              <a:srgbClr val="D6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21608" y="6007608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8A00"/>
                </a:solidFill>
              </a:rPr>
              <a:t>⊕  Mode-Specific Extensions (per module)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01000" y="1261872"/>
            <a:ext cx="4023360" cy="2624328"/>
          </a:xfrm>
          <a:prstGeom prst="rect">
            <a:avLst/>
          </a:prstGeom>
          <a:solidFill>
            <a:srgbClr val="F0FBF0"/>
          </a:solidFill>
          <a:ln w="9525">
            <a:solidFill>
              <a:srgbClr val="CCE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10728" y="1316736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644"/>
                </a:solidFill>
              </a:rPr>
              <a:t>✓  PROs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10728" y="1609344"/>
            <a:ext cx="3822192" cy="2185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00">
                <a:solidFill>
                  <a:srgbClr val="1A5C1A"/>
                </a:solidFill>
              </a:rPr>
              <a:t>+ Maps directly to OSDM's 27 tags and TOMP-API's 11 tags — minimal reinterpretation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5C1A"/>
                </a:solidFill>
              </a:rPr>
              <a:t>+ Granular: every operation has exactly one home module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5C1A"/>
                </a:solidFill>
              </a:rPr>
              <a:t>+ Standard API documentation practice; familiar to implementors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5C1A"/>
                </a:solidFill>
              </a:rPr>
              <a:t>+ Aligns with TOMP-API's x-modules hint in its info block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5C1A"/>
                </a:solidFill>
              </a:rPr>
              <a:t>+ New standards can be mapped module-by-module without TS restructuring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01000" y="3977640"/>
            <a:ext cx="4023360" cy="2514600"/>
          </a:xfrm>
          <a:prstGeom prst="rect">
            <a:avLst/>
          </a:prstGeom>
          <a:solidFill>
            <a:srgbClr val="FFF0F0"/>
          </a:solidFill>
          <a:ln w="9525">
            <a:solidFill>
              <a:srgbClr val="EE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10728" y="4032504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392B"/>
                </a:solidFill>
              </a:rPr>
              <a:t>✗  CONs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10728" y="4325112"/>
            <a:ext cx="3822192" cy="2075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00">
                <a:solidFill>
                  <a:srgbClr val="7A1010"/>
                </a:solidFill>
              </a:rPr>
              <a:t>− 13 chapters is a large TS structure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7A1010"/>
                </a:solidFill>
              </a:rPr>
              <a:t>− Domains 3–5 (Pricing / Booking / Fulfillment) are tightly coupled; boundary is blurry across all standards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7A1010"/>
                </a:solidFill>
              </a:rPr>
              <a:t>− Doesn't match how transport stakeholders reason (workflows, not functions)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7A1010"/>
                </a:solidFill>
              </a:rPr>
              <a:t>− High forward/back cross-reference density between adjacent chapters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Option B — Travel Lifecycle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DD7EE"/>
                </a:solidFill>
              </a:rPr>
              <a:t>One module per journey phase · 5 phases + cross-cutting cluster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9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261872"/>
            <a:ext cx="3200400" cy="5230368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" y="131673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</a:rPr>
              <a:t>Proposed modules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1627632"/>
            <a:ext cx="301752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1.  Pre-Trip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     Discovery · Journey Search · Pricing · Offers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2.  Purchase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     Booking · Reservation · Payment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3.  Pre-Departure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     Fulfillment · Documents · Traveller Mgmt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4.  In-Journey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     Validation · Inspection · Asset Ops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5.  Post-Trip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     After-Sales · Invoices · Complaints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—   Cross-cutting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     Auth · Notifications · Metadata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6144768"/>
            <a:ext cx="3200400" cy="329184"/>
          </a:xfrm>
          <a:prstGeom prst="rect">
            <a:avLst/>
          </a:prstGeom>
          <a:solidFill>
            <a:srgbClr val="FFF5E0"/>
          </a:solidFill>
          <a:ln w="9525">
            <a:solidFill>
              <a:srgbClr val="D6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" y="6190488"/>
            <a:ext cx="30723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8A00"/>
                </a:solidFill>
              </a:rPr>
              <a:t>⊕ Mode profiles added per module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40" y="1261872"/>
            <a:ext cx="4297680" cy="5230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1298448"/>
            <a:ext cx="41330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888888"/>
                </a:solidFill>
              </a:rPr>
              <a:t>Structure overview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30168" y="1572768"/>
            <a:ext cx="658368" cy="2377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5888" y="1664208"/>
            <a:ext cx="566928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Pre-
Trip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88536" y="2395728"/>
            <a:ext cx="20116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F4E79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9704" y="1572768"/>
            <a:ext cx="658368" cy="23774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5424" y="1664208"/>
            <a:ext cx="566928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Pur-
chase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48072" y="2395728"/>
            <a:ext cx="20116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F4E79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49240" y="1572768"/>
            <a:ext cx="658368" cy="2377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94960" y="1664208"/>
            <a:ext cx="566928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Pre-
Dep.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07608" y="2395728"/>
            <a:ext cx="20116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F4E79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8776" y="1572768"/>
            <a:ext cx="658368" cy="23774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54496" y="1664208"/>
            <a:ext cx="566928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In-
Jrny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67144" y="2395728"/>
            <a:ext cx="20116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F4E79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68312" y="1572768"/>
            <a:ext cx="658368" cy="23774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14032" y="1664208"/>
            <a:ext cx="566928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Post-
Trip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30168" y="4041648"/>
            <a:ext cx="4096512" cy="59436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21608" y="4151376"/>
            <a:ext cx="39319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4E79"/>
                </a:solidFill>
              </a:rPr>
              <a:t>Cross-cutting:  Auth  ·  Notifications  ·  Metadata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30168" y="4727448"/>
            <a:ext cx="4096512" cy="457200"/>
          </a:xfrm>
          <a:prstGeom prst="rect">
            <a:avLst/>
          </a:prstGeom>
          <a:solidFill>
            <a:srgbClr val="FFF5E0"/>
          </a:solidFill>
          <a:ln w="9525">
            <a:solidFill>
              <a:srgbClr val="D6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21608" y="4773168"/>
            <a:ext cx="3931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8A00"/>
                </a:solidFill>
              </a:rPr>
              <a:t>⊕  Mode-Specific Extensions (per phase)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01000" y="1261872"/>
            <a:ext cx="4023360" cy="2624328"/>
          </a:xfrm>
          <a:prstGeom prst="rect">
            <a:avLst/>
          </a:prstGeom>
          <a:solidFill>
            <a:srgbClr val="F0FBF0"/>
          </a:solidFill>
          <a:ln w="9525">
            <a:solidFill>
              <a:srgbClr val="CCE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10728" y="1316736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644"/>
                </a:solidFill>
              </a:rPr>
              <a:t>✓  PROs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10728" y="1609344"/>
            <a:ext cx="3822192" cy="2185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00">
                <a:solidFill>
                  <a:srgbClr val="1A5C1A"/>
                </a:solidFill>
              </a:rPr>
              <a:t>+ Natural narrative; accessible to non-technical CEN working-group members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5C1A"/>
                </a:solidFill>
              </a:rPr>
              <a:t>+ Directly aligned with the 7 CoRoM use cases in wiki/use-cases/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5C1A"/>
                </a:solidFill>
              </a:rPr>
              <a:t>+ Only 6 top-level chapters — most cohesive structure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5C1A"/>
                </a:solidFill>
              </a:rPr>
              <a:t>+ In-Journey cleanly isolates BoB validation/inspection domain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01000" y="3977640"/>
            <a:ext cx="4023360" cy="2514600"/>
          </a:xfrm>
          <a:prstGeom prst="rect">
            <a:avLst/>
          </a:prstGeom>
          <a:solidFill>
            <a:srgbClr val="FFF0F0"/>
          </a:solidFill>
          <a:ln w="9525">
            <a:solidFill>
              <a:srgbClr val="EE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10728" y="4032504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392B"/>
                </a:solidFill>
              </a:rPr>
              <a:t>✗  CONs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10728" y="4325112"/>
            <a:ext cx="3822192" cy="2075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00">
                <a:solidFill>
                  <a:srgbClr val="7A1010"/>
                </a:solidFill>
              </a:rPr>
              <a:t>− Several operations are ambiguous in phase (on-hold offers, release offers)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7A1010"/>
                </a:solidFill>
              </a:rPr>
              <a:t>− In-Journey chapter is near-empty for most standards except BoB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7A1010"/>
                </a:solidFill>
              </a:rPr>
              <a:t>− FerryGateway bundles multiple phases per message pair — hard to place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7A1010"/>
                </a:solidFill>
              </a:rPr>
              <a:t>− Cross-cutting pseudo-module breaks the linear narrative structure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7A1010"/>
                </a:solidFill>
              </a:rPr>
              <a:t>− Lifecycle boundaries may shift as use cases mature → TS restructuring risk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Option C — Actor / Role-Based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DD7EE"/>
                </a:solidFill>
              </a:rPr>
              <a:t>One module per stakeholder role · aligned with wiki/roles.md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10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261872"/>
            <a:ext cx="3200400" cy="5230368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" y="131673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</a:rPr>
              <a:t>Proposed modules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1627632"/>
            <a:ext cx="301752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1.  TRANSPORT CUSTOMER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     Search · Book · Manage trip · After-sales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2.  TRANSPORT OPERATOR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     Offer · Fulfil · Validate · Notify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3.  DISTRIBUTOR / MaaS Provider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     Aggregate · Compose · Handle notifications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4.  INSPECTOR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     Validate &amp; inspect physical tokens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5.  System-to-System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     Metadata · Health · Auth · Participant registry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6144768"/>
            <a:ext cx="3200400" cy="329184"/>
          </a:xfrm>
          <a:prstGeom prst="rect">
            <a:avLst/>
          </a:prstGeom>
          <a:solidFill>
            <a:srgbClr val="FFF5E0"/>
          </a:solidFill>
          <a:ln w="9525">
            <a:solidFill>
              <a:srgbClr val="D6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" y="6190488"/>
            <a:ext cx="30723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8A00"/>
                </a:solidFill>
              </a:rPr>
              <a:t>⊕ Mode profiles added per module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40" y="1261872"/>
            <a:ext cx="4297680" cy="5230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1298448"/>
            <a:ext cx="41330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888888"/>
                </a:solidFill>
              </a:rPr>
              <a:t>Structure overview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30168" y="1572768"/>
            <a:ext cx="1234440" cy="8503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5888" y="1609344"/>
            <a:ext cx="11612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CUSTOMER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19472" y="1572768"/>
            <a:ext cx="2807208" cy="850392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048" y="1627632"/>
            <a:ext cx="2679192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</a:rPr>
              <a:t>Search · Book · Manage · After-sales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30168" y="2441448"/>
            <a:ext cx="1234440" cy="85039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5888" y="2478024"/>
            <a:ext cx="11612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OPERATOR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19472" y="2441448"/>
            <a:ext cx="2807208" cy="850392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56048" y="2496312"/>
            <a:ext cx="2679192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</a:rPr>
              <a:t>Offer · Fulfil · Validate · Notify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30168" y="3310128"/>
            <a:ext cx="1234440" cy="8503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3346704"/>
            <a:ext cx="11612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DISTRIBUTOR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19472" y="3310128"/>
            <a:ext cx="2807208" cy="850392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3364992"/>
            <a:ext cx="2679192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</a:rPr>
              <a:t>Aggregate · Compose · Notifications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30168" y="4178808"/>
            <a:ext cx="1234440" cy="85039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5888" y="4215384"/>
            <a:ext cx="11612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INSPECTOR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19472" y="4178808"/>
            <a:ext cx="2807208" cy="850392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4233672"/>
            <a:ext cx="2679192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</a:rPr>
              <a:t>Validate &amp; Inspect tokens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30168" y="5047488"/>
            <a:ext cx="1234440" cy="8503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75888" y="5084064"/>
            <a:ext cx="116128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SYSTEM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19472" y="5047488"/>
            <a:ext cx="2807208" cy="850392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5102352"/>
            <a:ext cx="2679192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</a:rPr>
              <a:t>Auth · Metadata · Participant registry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30168" y="5961888"/>
            <a:ext cx="4096512" cy="438912"/>
          </a:xfrm>
          <a:prstGeom prst="rect">
            <a:avLst/>
          </a:prstGeom>
          <a:solidFill>
            <a:srgbClr val="FFF5E0"/>
          </a:solidFill>
          <a:ln w="9525">
            <a:solidFill>
              <a:srgbClr val="D6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21608" y="6007608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8A00"/>
                </a:solidFill>
              </a:rPr>
              <a:t>⊕  Mode-Specific Extensions (per role module)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01000" y="1261872"/>
            <a:ext cx="4023360" cy="2624328"/>
          </a:xfrm>
          <a:prstGeom prst="rect">
            <a:avLst/>
          </a:prstGeom>
          <a:solidFill>
            <a:srgbClr val="F0FBF0"/>
          </a:solidFill>
          <a:ln w="9525">
            <a:solidFill>
              <a:srgbClr val="CCE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10728" y="1316736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644"/>
                </a:solidFill>
              </a:rPr>
              <a:t>✓  PROs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10728" y="1609344"/>
            <a:ext cx="3822192" cy="2185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00">
                <a:solidFill>
                  <a:srgbClr val="1A5C1A"/>
                </a:solidFill>
              </a:rPr>
              <a:t>+ Aligned with Transmodel role definitions and wiki/roles.md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5C1A"/>
                </a:solidFill>
              </a:rPr>
              <a:t>+ Clear ownership: each chapter = one actor's API contract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5C1A"/>
                </a:solidFill>
              </a:rPr>
              <a:t>+ Enables clean conformance claims ('implements CUSTOMER module')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5C1A"/>
                </a:solidFill>
              </a:rPr>
              <a:t>+ BoB ParticipantMetadata tags already map to participant roles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01000" y="3977640"/>
            <a:ext cx="4023360" cy="2514600"/>
          </a:xfrm>
          <a:prstGeom prst="rect">
            <a:avLst/>
          </a:prstGeom>
          <a:solidFill>
            <a:srgbClr val="FFF0F0"/>
          </a:solidFill>
          <a:ln w="9525">
            <a:solidFill>
              <a:srgbClr val="EE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4032504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392B"/>
                </a:solidFill>
              </a:rPr>
              <a:t>✗  CONs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325112"/>
            <a:ext cx="3822192" cy="2075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00">
                <a:solidFill>
                  <a:srgbClr val="7A1010"/>
                </a:solidFill>
              </a:rPr>
              <a:t>− Same operation serves multiple roles (e.g. GET /bookings/{id} is used by both CUSTOMER and DISTRIBUTOR)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7A1010"/>
                </a:solidFill>
              </a:rPr>
              <a:t>− OSDM, TOMP-API, OMSA present a single unified API; role is OAuth scope, not endpoint separation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7A1010"/>
                </a:solidFill>
              </a:rPr>
              <a:t>− BoB and FerryGateway have no explicit role model — assignment is editorial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7A1010"/>
                </a:solidFill>
              </a:rPr>
              <a:t>− Role definitions in wiki/roles.md may still evolve → TS revision risk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Option D — Transmodel Entity-Centric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DD7EE"/>
                </a:solidFill>
              </a:rPr>
              <a:t>One module per Transmodel entity family · maximum Transmodel alignment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11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261872"/>
            <a:ext cx="3200400" cy="5230368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" y="131673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</a:rPr>
              <a:t>Proposed modules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1627632"/>
            <a:ext cx="301752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1.  PLACE &amp; NETWORK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2.  SERVICE JOURNEY &amp; TRIP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3.  FARE PRODUCT &amp; SALES OFFER PACKAGE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4.  BOOKING &amp; RESERVED PLACE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5.  TRAVEL DOCUMENT &amp; FULFILMENT METHOD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6.  TRANSPORT CUSTOMER &amp; TRAVEL ACCOUNT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7.  ASSET / VEHICLE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—   Cross-cutting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     ORGANISATION · Auth · Notifications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6144768"/>
            <a:ext cx="3200400" cy="329184"/>
          </a:xfrm>
          <a:prstGeom prst="rect">
            <a:avLst/>
          </a:prstGeom>
          <a:solidFill>
            <a:srgbClr val="FFF5E0"/>
          </a:solidFill>
          <a:ln w="9525">
            <a:solidFill>
              <a:srgbClr val="D6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" y="6190488"/>
            <a:ext cx="30723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8A00"/>
                </a:solidFill>
              </a:rPr>
              <a:t>⊕ Mode profiles added per module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40" y="1261872"/>
            <a:ext cx="4297680" cy="5230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1298448"/>
            <a:ext cx="41330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888888"/>
                </a:solidFill>
              </a:rPr>
              <a:t>Structure overview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30168" y="1572768"/>
            <a:ext cx="91440" cy="37947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21608" y="1830106"/>
            <a:ext cx="201168" cy="45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22776" y="1572768"/>
            <a:ext cx="3758184" cy="523820"/>
          </a:xfrm>
          <a:prstGeom prst="rect">
            <a:avLst/>
          </a:prstGeom>
          <a:solidFill>
            <a:srgbClr val="BDD7EE"/>
          </a:solidFill>
          <a:ln w="952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77640" y="1600200"/>
            <a:ext cx="3666744" cy="4872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F4E79"/>
                </a:solidFill>
              </a:rPr>
              <a:t>PLACE &amp; NETWORK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21608" y="2372214"/>
            <a:ext cx="201168" cy="45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22776" y="2114876"/>
            <a:ext cx="3758184" cy="523820"/>
          </a:xfrm>
          <a:prstGeom prst="rect">
            <a:avLst/>
          </a:prstGeom>
          <a:solidFill>
            <a:srgbClr val="FFFFFF"/>
          </a:solidFill>
          <a:ln w="952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77640" y="2142308"/>
            <a:ext cx="3666744" cy="4872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F4E79"/>
                </a:solidFill>
              </a:rPr>
              <a:t>SERVICE JOURNEY &amp; TRIP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21608" y="2914323"/>
            <a:ext cx="201168" cy="45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22776" y="2656985"/>
            <a:ext cx="3758184" cy="523820"/>
          </a:xfrm>
          <a:prstGeom prst="rect">
            <a:avLst/>
          </a:prstGeom>
          <a:solidFill>
            <a:srgbClr val="BDD7EE"/>
          </a:solidFill>
          <a:ln w="952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77640" y="2684417"/>
            <a:ext cx="3666744" cy="4872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F4E79"/>
                </a:solidFill>
              </a:rPr>
              <a:t>FARE PRODUCT &amp; SALES OFFER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21608" y="3456432"/>
            <a:ext cx="201168" cy="45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922776" y="3199093"/>
            <a:ext cx="3758184" cy="523820"/>
          </a:xfrm>
          <a:prstGeom prst="rect">
            <a:avLst/>
          </a:prstGeom>
          <a:solidFill>
            <a:srgbClr val="FFFFFF"/>
          </a:solidFill>
          <a:ln w="952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77640" y="3226525"/>
            <a:ext cx="3666744" cy="4872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F4E79"/>
                </a:solidFill>
              </a:rPr>
              <a:t>BOOKING &amp; RESERVED PLACE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21608" y="3998540"/>
            <a:ext cx="201168" cy="45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922776" y="3741202"/>
            <a:ext cx="3758184" cy="523820"/>
          </a:xfrm>
          <a:prstGeom prst="rect">
            <a:avLst/>
          </a:prstGeom>
          <a:solidFill>
            <a:srgbClr val="BDD7EE"/>
          </a:solidFill>
          <a:ln w="952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77640" y="3768634"/>
            <a:ext cx="3666744" cy="4872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F4E79"/>
                </a:solidFill>
              </a:rPr>
              <a:t>TRAVEL DOCUMENT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21608" y="4540649"/>
            <a:ext cx="201168" cy="45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922776" y="4283310"/>
            <a:ext cx="3758184" cy="523820"/>
          </a:xfrm>
          <a:prstGeom prst="rect">
            <a:avLst/>
          </a:prstGeom>
          <a:solidFill>
            <a:srgbClr val="FFFFFF"/>
          </a:solidFill>
          <a:ln w="952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77640" y="4310742"/>
            <a:ext cx="3666744" cy="4872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F4E79"/>
                </a:solidFill>
              </a:rPr>
              <a:t>TRANSPORT CUSTOMER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21608" y="5082757"/>
            <a:ext cx="201168" cy="457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922776" y="4825419"/>
            <a:ext cx="3758184" cy="523820"/>
          </a:xfrm>
          <a:prstGeom prst="rect">
            <a:avLst/>
          </a:prstGeom>
          <a:solidFill>
            <a:srgbClr val="BDD7EE"/>
          </a:solidFill>
          <a:ln w="952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77640" y="4852851"/>
            <a:ext cx="3666744" cy="4872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F4E79"/>
                </a:solidFill>
              </a:rPr>
              <a:t>ASSET / VEHICLE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30168" y="5413248"/>
            <a:ext cx="4096512" cy="457200"/>
          </a:xfrm>
          <a:prstGeom prst="rect">
            <a:avLst/>
          </a:prstGeom>
          <a:solidFill>
            <a:srgbClr val="BDD7EE"/>
          </a:solidFill>
          <a:ln w="952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21608" y="5486400"/>
            <a:ext cx="39593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F4E79"/>
                </a:solidFill>
              </a:rPr>
              <a:t>Cross-cutting: ORGANISATION · Auth · Notifications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30168" y="5916168"/>
            <a:ext cx="4096512" cy="438912"/>
          </a:xfrm>
          <a:prstGeom prst="rect">
            <a:avLst/>
          </a:prstGeom>
          <a:solidFill>
            <a:srgbClr val="FFF5E0"/>
          </a:solidFill>
          <a:ln w="9525">
            <a:solidFill>
              <a:srgbClr val="D6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21608" y="5961888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8A00"/>
                </a:solidFill>
              </a:rPr>
              <a:t>⊕  Mode-Specific Extensions (per entity module)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01000" y="1261872"/>
            <a:ext cx="4023360" cy="2624328"/>
          </a:xfrm>
          <a:prstGeom prst="rect">
            <a:avLst/>
          </a:prstGeom>
          <a:solidFill>
            <a:srgbClr val="F0FBF0"/>
          </a:solidFill>
          <a:ln w="9525">
            <a:solidFill>
              <a:srgbClr val="CCE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10728" y="1316736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644"/>
                </a:solidFill>
              </a:rPr>
              <a:t>✓  PROs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10728" y="1609344"/>
            <a:ext cx="3822192" cy="2185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00">
                <a:solidFill>
                  <a:srgbClr val="1A5C1A"/>
                </a:solidFill>
              </a:rPr>
              <a:t>+ Maximally aligned with EUDIT's core mission: Transmodel-compliant interface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5C1A"/>
                </a:solidFill>
              </a:rPr>
              <a:t>+ Every chapter opens with a canonical Transmodel entity definition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5C1A"/>
                </a:solidFill>
              </a:rPr>
              <a:t>+ Leverages x-semantics annotations already applied to all 10 spec files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5C1A"/>
                </a:solidFill>
              </a:rPr>
              <a:t>+ Strongest justification for architectural choices to CEN reviewers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01000" y="3977640"/>
            <a:ext cx="4023360" cy="2514600"/>
          </a:xfrm>
          <a:prstGeom prst="rect">
            <a:avLst/>
          </a:prstGeom>
          <a:solidFill>
            <a:srgbClr val="FFF0F0"/>
          </a:solidFill>
          <a:ln w="9525">
            <a:solidFill>
              <a:srgbClr val="EE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10728" y="4032504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392B"/>
                </a:solidFill>
              </a:rPr>
              <a:t>✗  CONs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0728" y="4325112"/>
            <a:ext cx="3822192" cy="2075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00">
                <a:solidFill>
                  <a:srgbClr val="7A1010"/>
                </a:solidFill>
              </a:rPr>
              <a:t>− High Transmodel literacy required from readers — accessibility risk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7A1010"/>
                </a:solidFill>
              </a:rPr>
              <a:t>− Purely procedural operations (health, auth, notifications) have no primary Transmodel entity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7A1010"/>
                </a:solidFill>
              </a:rPr>
              <a:t>− Single API call often touches multiple entities: POST /bookings creates BOOKING + RESERVED PLACE + references SALES OFFER PACKAGE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7A1010"/>
                </a:solidFill>
              </a:rPr>
              <a:t>− FerryGateway has no x-semantics annotations — entity assignment is manual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7A1010"/>
                </a:solidFill>
              </a:rPr>
              <a:t>− Highest editorial complexity of all five options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Option E — Hybrid: Lifecycle × Functional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DD7EE"/>
                </a:solidFill>
              </a:rPr>
              <a:t>Lifecycle phases as top level · functional sub-modules within · 6 phases + cross-cutting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12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1261872"/>
            <a:ext cx="3200400" cy="5230368"/>
          </a:xfrm>
          <a:prstGeom prst="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" y="1316736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</a:rPr>
              <a:t>Proposed modules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1627632"/>
            <a:ext cx="301752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1. Network &amp; Product Catalogue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    1.1 Service Discovery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    1.2 Network Data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    1.3 Product Catalogue &amp; Pricing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2. Planning &amp; Selection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    2.1 Journey Search   2.2 Offers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3. Purchase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    3.1 Booking &amp; Reservation   3.2 Payment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4. Entitlements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    4.1 Fulfillment &amp; Tickets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    4.2 Traveller Mgmt   4.3 Documents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5. In-Journey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    5.1 Validation &amp; Inspection   5.2 Assets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6. Post-Journey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    6.1 After-Sales   6.2 Complaints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7. Cross-cutting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    7.1 Auth &amp; Identity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000000"/>
                </a:solidFill>
              </a:rPr>
              <a:t>•     7.2 Notifications   7.3 Metadata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6144768"/>
            <a:ext cx="3200400" cy="329184"/>
          </a:xfrm>
          <a:prstGeom prst="rect">
            <a:avLst/>
          </a:prstGeom>
          <a:solidFill>
            <a:srgbClr val="FFF5E0"/>
          </a:solidFill>
          <a:ln w="9525">
            <a:solidFill>
              <a:srgbClr val="D6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" y="6190488"/>
            <a:ext cx="30723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68A00"/>
                </a:solidFill>
              </a:rPr>
              <a:t>⊕ Mode profiles added per module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40" y="1261872"/>
            <a:ext cx="4297680" cy="5230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1298448"/>
            <a:ext cx="41330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888888"/>
                </a:solidFill>
              </a:rPr>
              <a:t>Structure overview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30168" y="1572768"/>
            <a:ext cx="1325880" cy="61417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5032" y="1609344"/>
            <a:ext cx="1234440" cy="541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1. Net &amp; Catalogue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92624" y="1572768"/>
            <a:ext cx="886968" cy="614172"/>
          </a:xfrm>
          <a:prstGeom prst="rect">
            <a:avLst/>
          </a:prstGeom>
          <a:solidFill>
            <a:srgbClr val="BDD7EE"/>
          </a:solidFill>
          <a:ln w="952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38344" y="1609344"/>
            <a:ext cx="813816" cy="541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F4E79"/>
                </a:solidFill>
              </a:rPr>
              <a:t>1.1 Discovery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16168" y="1572768"/>
            <a:ext cx="886968" cy="614172"/>
          </a:xfrm>
          <a:prstGeom prst="rect">
            <a:avLst/>
          </a:prstGeom>
          <a:solidFill>
            <a:srgbClr val="BDD7EE"/>
          </a:solidFill>
          <a:ln w="952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1888" y="1609344"/>
            <a:ext cx="813816" cy="541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F4E79"/>
                </a:solidFill>
              </a:rPr>
              <a:t>1.2 Network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39712" y="1572768"/>
            <a:ext cx="886968" cy="614172"/>
          </a:xfrm>
          <a:prstGeom prst="rect">
            <a:avLst/>
          </a:prstGeom>
          <a:solidFill>
            <a:srgbClr val="BDD7EE"/>
          </a:solidFill>
          <a:ln w="952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85432" y="1609344"/>
            <a:ext cx="813816" cy="541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F4E79"/>
                </a:solidFill>
              </a:rPr>
              <a:t>1.3 Products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30168" y="2205228"/>
            <a:ext cx="1325880" cy="6141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5032" y="2241804"/>
            <a:ext cx="1234440" cy="541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2. Planning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92624" y="2205228"/>
            <a:ext cx="1348740" cy="614172"/>
          </a:xfrm>
          <a:prstGeom prst="rect">
            <a:avLst/>
          </a:prstGeom>
          <a:solidFill>
            <a:srgbClr val="F2F2F2"/>
          </a:solidFill>
          <a:ln w="952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38344" y="2241804"/>
            <a:ext cx="1275588" cy="541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F4E79"/>
                </a:solidFill>
              </a:rPr>
              <a:t>2.1 Journey Search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77940" y="2205228"/>
            <a:ext cx="1348740" cy="614172"/>
          </a:xfrm>
          <a:prstGeom prst="rect">
            <a:avLst/>
          </a:prstGeom>
          <a:solidFill>
            <a:srgbClr val="F2F2F2"/>
          </a:solidFill>
          <a:ln w="952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3660" y="2241804"/>
            <a:ext cx="1275588" cy="541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F4E79"/>
                </a:solidFill>
              </a:rPr>
              <a:t>2.2 Offers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30168" y="2837688"/>
            <a:ext cx="1325880" cy="61417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85032" y="2874264"/>
            <a:ext cx="1234440" cy="541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3. Purchase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92624" y="2837688"/>
            <a:ext cx="1348740" cy="614172"/>
          </a:xfrm>
          <a:prstGeom prst="rect">
            <a:avLst/>
          </a:prstGeom>
          <a:solidFill>
            <a:srgbClr val="BDD7EE"/>
          </a:solidFill>
          <a:ln w="952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38344" y="2874264"/>
            <a:ext cx="1275588" cy="541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F4E79"/>
                </a:solidFill>
              </a:rPr>
              <a:t>3.1 Booking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77940" y="2837688"/>
            <a:ext cx="1348740" cy="614172"/>
          </a:xfrm>
          <a:prstGeom prst="rect">
            <a:avLst/>
          </a:prstGeom>
          <a:solidFill>
            <a:srgbClr val="BDD7EE"/>
          </a:solidFill>
          <a:ln w="952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3660" y="2874264"/>
            <a:ext cx="1275588" cy="541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F4E79"/>
                </a:solidFill>
              </a:rPr>
              <a:t>3.2 Payment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30168" y="3470148"/>
            <a:ext cx="1325880" cy="6141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85032" y="3506724"/>
            <a:ext cx="1234440" cy="541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4. Entitlements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92624" y="3470148"/>
            <a:ext cx="886968" cy="614172"/>
          </a:xfrm>
          <a:prstGeom prst="rect">
            <a:avLst/>
          </a:prstGeom>
          <a:solidFill>
            <a:srgbClr val="F2F2F2"/>
          </a:solidFill>
          <a:ln w="952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38344" y="3506724"/>
            <a:ext cx="813816" cy="541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F4E79"/>
                </a:solidFill>
              </a:rPr>
              <a:t>4.1 Fulfillment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16168" y="3470148"/>
            <a:ext cx="886968" cy="614172"/>
          </a:xfrm>
          <a:prstGeom prst="rect">
            <a:avLst/>
          </a:prstGeom>
          <a:solidFill>
            <a:srgbClr val="F2F2F2"/>
          </a:solidFill>
          <a:ln w="952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61888" y="3506724"/>
            <a:ext cx="813816" cy="541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F4E79"/>
                </a:solidFill>
              </a:rPr>
              <a:t>4.2 Traveller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39712" y="3470148"/>
            <a:ext cx="886968" cy="614172"/>
          </a:xfrm>
          <a:prstGeom prst="rect">
            <a:avLst/>
          </a:prstGeom>
          <a:solidFill>
            <a:srgbClr val="F2F2F2"/>
          </a:solidFill>
          <a:ln w="952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85432" y="3506724"/>
            <a:ext cx="813816" cy="541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F4E79"/>
                </a:solidFill>
              </a:rPr>
              <a:t>4.3 Docs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30168" y="4102608"/>
            <a:ext cx="1325880" cy="61417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85032" y="4139184"/>
            <a:ext cx="1234440" cy="541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5. In-Journey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92624" y="4102608"/>
            <a:ext cx="1348740" cy="614172"/>
          </a:xfrm>
          <a:prstGeom prst="rect">
            <a:avLst/>
          </a:prstGeom>
          <a:solidFill>
            <a:srgbClr val="BDD7EE"/>
          </a:solidFill>
          <a:ln w="952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38344" y="4139184"/>
            <a:ext cx="1275588" cy="541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F4E79"/>
                </a:solidFill>
              </a:rPr>
              <a:t>5.1 Validation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77940" y="4102608"/>
            <a:ext cx="1348740" cy="614172"/>
          </a:xfrm>
          <a:prstGeom prst="rect">
            <a:avLst/>
          </a:prstGeom>
          <a:solidFill>
            <a:srgbClr val="BDD7EE"/>
          </a:solidFill>
          <a:ln w="952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23660" y="4139184"/>
            <a:ext cx="1275588" cy="541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F4E79"/>
                </a:solidFill>
              </a:rPr>
              <a:t>5.2 Assets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30168" y="4735068"/>
            <a:ext cx="1325880" cy="6141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85032" y="4771644"/>
            <a:ext cx="1234440" cy="541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6. Post-Journey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992624" y="4735068"/>
            <a:ext cx="1348740" cy="614172"/>
          </a:xfrm>
          <a:prstGeom prst="rect">
            <a:avLst/>
          </a:prstGeom>
          <a:solidFill>
            <a:srgbClr val="F2F2F2"/>
          </a:solidFill>
          <a:ln w="952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38344" y="4771644"/>
            <a:ext cx="1275588" cy="541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F4E79"/>
                </a:solidFill>
              </a:rPr>
              <a:t>6.1 After-Sales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77940" y="4735068"/>
            <a:ext cx="1348740" cy="614172"/>
          </a:xfrm>
          <a:prstGeom prst="rect">
            <a:avLst/>
          </a:prstGeom>
          <a:solidFill>
            <a:srgbClr val="F2F2F2"/>
          </a:solidFill>
          <a:ln w="952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23660" y="4771644"/>
            <a:ext cx="1275588" cy="541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F4E79"/>
                </a:solidFill>
              </a:rPr>
              <a:t>6.2 Support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30168" y="5413248"/>
            <a:ext cx="4096512" cy="457200"/>
          </a:xfrm>
          <a:prstGeom prst="rect">
            <a:avLst/>
          </a:prstGeom>
          <a:solidFill>
            <a:srgbClr val="BDD7EE"/>
          </a:solidFill>
          <a:ln w="9525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721608" y="5486400"/>
            <a:ext cx="39593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F4E79"/>
                </a:solidFill>
              </a:rPr>
              <a:t>Cross-cutting:  Auth  ·  Notifications  ·  Metadata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30168" y="5916168"/>
            <a:ext cx="4096512" cy="438912"/>
          </a:xfrm>
          <a:prstGeom prst="rect">
            <a:avLst/>
          </a:prstGeom>
          <a:solidFill>
            <a:srgbClr val="FFF5E0"/>
          </a:solidFill>
          <a:ln w="9525">
            <a:solidFill>
              <a:srgbClr val="D68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721608" y="5961888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8A00"/>
                </a:solidFill>
              </a:rPr>
              <a:t>⊕  Mode-Specific Extensions (per phase / sub-module)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001000" y="1261872"/>
            <a:ext cx="4023360" cy="2624328"/>
          </a:xfrm>
          <a:prstGeom prst="rect">
            <a:avLst/>
          </a:prstGeom>
          <a:solidFill>
            <a:srgbClr val="F0FBF0"/>
          </a:solidFill>
          <a:ln w="9525">
            <a:solidFill>
              <a:srgbClr val="CCE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10728" y="1316736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8644"/>
                </a:solidFill>
              </a:rPr>
              <a:t>✓  PROs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10728" y="1609344"/>
            <a:ext cx="3822192" cy="2185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00">
                <a:solidFill>
                  <a:srgbClr val="1A5C1A"/>
                </a:solidFill>
              </a:rPr>
              <a:t>+ Lifecycle phases = narrative clarity; functional sub-modules = operational precision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5C1A"/>
                </a:solidFill>
              </a:rPr>
              <a:t>+ Top-level phases match CoRoM use cases and user-action entries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5C1A"/>
                </a:solidFill>
              </a:rPr>
              <a:t>+ Cross-cutting cluster cleanly isolates auth, notifications, metadata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5C1A"/>
                </a:solidFill>
              </a:rPr>
              <a:t>+ Balanced chapter sizes — no near-empty phase chapters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5C1A"/>
                </a:solidFill>
              </a:rPr>
              <a:t>+ Scales: new operations added to a sub-module without TS restructuring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001000" y="3977640"/>
            <a:ext cx="4023360" cy="2514600"/>
          </a:xfrm>
          <a:prstGeom prst="rect">
            <a:avLst/>
          </a:prstGeom>
          <a:solidFill>
            <a:srgbClr val="FFF0F0"/>
          </a:solidFill>
          <a:ln w="9525">
            <a:solidFill>
              <a:srgbClr val="EE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10728" y="4032504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392B"/>
                </a:solidFill>
              </a:rPr>
              <a:t>✗  CONs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10728" y="4325112"/>
            <a:ext cx="3822192" cy="2075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00">
                <a:solidFill>
                  <a:srgbClr val="7A1010"/>
                </a:solidFill>
              </a:rPr>
              <a:t>− Two-level hierarchy produces more cross-references than flat options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7A1010"/>
                </a:solidFill>
              </a:rPr>
              <a:t>− Sub-module boundary drift risk during Phase 3 (The Anvil) iterations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7A1010"/>
                </a:solidFill>
              </a:rPr>
              <a:t>− Risk of over-engineering structure before TS content is stable in Phase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DD7EE"/>
                </a:solidFill>
              </a:rPr>
              <a:t>✓✓ = strong fit   ✓ = adequate   ~ = partial   ✗ = weak 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13 / 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" y="1234440"/>
          <a:ext cx="11750040" cy="5440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746504"/>
                <a:gridCol w="1746504"/>
                <a:gridCol w="1746504"/>
                <a:gridCol w="1746504"/>
                <a:gridCol w="1746504"/>
              </a:tblGrid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</a:rPr>
                        <a:t>Criterion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</a:rPr>
                        <a:t>A
Functional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</a:rPr>
                        <a:t>B
Lifecycle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</a:rPr>
                        <a:t>C
Actor/Role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</a:rPr>
                        <a:t>D
Transmodel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</a:rPr>
                        <a:t>E
Hybrid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Transmodel alignment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~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~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75B6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78644"/>
                          </a:solidFill>
                        </a:rPr>
                        <a:t>✓✓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75B6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Narrative clarity for working group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~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78644"/>
                          </a:solidFill>
                        </a:rPr>
                        <a:t>✓✓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75B6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~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78644"/>
                          </a:solidFill>
                        </a:rPr>
                        <a:t>✓✓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Traceability to CoRoM use cases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~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78644"/>
                          </a:solidFill>
                        </a:rPr>
                        <a:t>✓✓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75B6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~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78644"/>
                          </a:solidFill>
                        </a:rPr>
                        <a:t>✓✓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Implementor usability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78644"/>
                          </a:solidFill>
                        </a:rPr>
                        <a:t>✓✓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75B6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75B6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~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75B6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Coverage balance across standards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75B6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~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~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~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E75B6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00000"/>
                          </a:solidFill>
                        </a:rPr>
                        <a:t>Editorial complexity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78644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378644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C0392B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D68A00"/>
                          </a:solidFill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11521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Open Questions for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498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DD7EE"/>
                </a:solidFill>
              </a:rPr>
              <a:t>[TO DISCUSS / COMPLETE] — items for the working-group meeting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EUDIT — Modularising the Technical Specification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99999"/>
                </a:solidFill>
              </a:rPr>
              <a:t>14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07592"/>
            <a:ext cx="384048" cy="384048"/>
          </a:xfrm>
          <a:prstGeom prst="rect">
            <a:avLst/>
          </a:prstGeom>
          <a:solidFill>
            <a:srgbClr val="D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30759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1261872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</a:rPr>
              <a:t>Validation &amp; Inspection 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1536192"/>
            <a:ext cx="11064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BoB is currently the only standard covering Domain 9. Full TS module, or sub-section of Fulfillment pending other standards adding inspection?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295144"/>
            <a:ext cx="384048" cy="384048"/>
          </a:xfrm>
          <a:prstGeom prst="rect">
            <a:avLst/>
          </a:prstGeom>
          <a:solidFill>
            <a:srgbClr val="D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229514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2249424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</a:rPr>
              <a:t>FerryGateway RPC mapping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2523744"/>
            <a:ext cx="11064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FerryGateway's message pairs bundle multiple lifecycle phases. Under Option B or E, does a bundled pair (e.g. Book) appear in both Planning and Purchase, or is it assigned to the phase of its primary outcome?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282696"/>
            <a:ext cx="384048" cy="384048"/>
          </a:xfrm>
          <a:prstGeom prst="rect">
            <a:avLst/>
          </a:prstGeom>
          <a:solidFill>
            <a:srgbClr val="D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328269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3236976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</a:rPr>
              <a:t>TOMP-API-MP placement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" y="3511296"/>
            <a:ext cx="11064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The reverse notification channel is a standalone spec file. Should it be a standalone module, a sub-section of Notifications, or an annex?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270248"/>
            <a:ext cx="384048" cy="384048"/>
          </a:xfrm>
          <a:prstGeom prst="rect">
            <a:avLst/>
          </a:prstGeom>
          <a:solidFill>
            <a:srgbClr val="D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4270248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22452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</a:rPr>
              <a:t>Which option to carry into Phase 2 (The Forge)?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" y="4498848"/>
            <a:ext cx="11064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The group should select one option — or a hybrid — as the baseline TS structure for the first technical proposal.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5257800"/>
            <a:ext cx="384048" cy="384048"/>
          </a:xfrm>
          <a:prstGeom prst="rect">
            <a:avLst/>
          </a:prstGeom>
          <a:solidFill>
            <a:srgbClr val="D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525780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8" y="5212080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</a:rPr>
              <a:t>Module boundary stability in Phase 3 (The Anvil)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" y="5486400"/>
            <a:ext cx="11064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</a:rPr>
              <a:t>Should module boundaries be frozen after Phase 2, or may they be reorganised during biweekly iteration without triggering a ballot reset?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