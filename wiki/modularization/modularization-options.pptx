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2560320"/>
          </a:xfrm>
          <a:prstGeom prst="rect">
            <a:avLst/>
          </a:prstGeom>
          <a:solidFill>
            <a:srgbClr val="4E3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560320"/>
            <a:ext cx="9144000" cy="73152"/>
          </a:xfrm>
          <a:prstGeom prst="rect">
            <a:avLst/>
          </a:prstGeom>
          <a:solidFill>
            <a:srgbClr val="F3CC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7680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>
                <a:solidFill>
                  <a:srgbClr val="F3CC5F"/>
                </a:solidFill>
                <a:latin typeface="Arial"/>
              </a:rPr>
              <a:t>EUDIT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76809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FBEEC9"/>
                </a:solidFill>
                <a:latin typeface="Arial"/>
              </a:rPr>
              <a:t>Modularising the Technical Specification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788920"/>
            <a:ext cx="7680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1">
                <a:solidFill>
                  <a:srgbClr val="4E3B30"/>
                </a:solidFill>
                <a:latin typeface="Arial"/>
              </a:rPr>
              <a:t>Options for cross-standard functional module design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480560"/>
            <a:ext cx="7680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A19574"/>
                </a:solidFill>
                <a:latin typeface="Arial"/>
              </a:rPr>
              <a:t>Phase 1 — The Kidling  ·  Standards: OSDM · TOMP-API · OMSA · BoB · FerryGateway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F3CC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0" y="73152"/>
            <a:ext cx="5486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4E3B30"/>
                </a:solidFill>
                <a:latin typeface="Arial"/>
              </a:rPr>
              <a:t>EUDIT — Modularising the Technical Specification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48640"/>
            <a:ext cx="8595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4E3B30"/>
                </a:solidFill>
                <a:latin typeface="Arial"/>
              </a:rPr>
              <a:t>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0" y="73152"/>
            <a:ext cx="1691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4E3B30"/>
                </a:solidFill>
                <a:latin typeface="Arial"/>
              </a:rPr>
              <a:t>Slide 2 / 14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709928"/>
            <a:ext cx="457200" cy="292608"/>
          </a:xfrm>
          <a:prstGeom prst="rect">
            <a:avLst/>
          </a:prstGeom>
          <a:solidFill>
            <a:srgbClr val="C175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709928"/>
            <a:ext cx="457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1673352"/>
            <a:ext cx="79552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  <a:latin typeface="Arial"/>
              </a:rPr>
              <a:t>Current setup per standard — a structural overview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112264"/>
            <a:ext cx="457200" cy="292608"/>
          </a:xfrm>
          <a:prstGeom prst="rect">
            <a:avLst/>
          </a:prstGeom>
          <a:solidFill>
            <a:srgbClr val="C175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2112264"/>
            <a:ext cx="457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2075688"/>
            <a:ext cx="79552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  <a:latin typeface="Arial"/>
              </a:rPr>
              <a:t>Current setup — key cross-spec observations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514600"/>
            <a:ext cx="457200" cy="292608"/>
          </a:xfrm>
          <a:prstGeom prst="rect">
            <a:avLst/>
          </a:prstGeom>
          <a:solidFill>
            <a:srgbClr val="C175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2514600"/>
            <a:ext cx="457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2478024"/>
            <a:ext cx="79552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  <a:latin typeface="Arial"/>
              </a:rPr>
              <a:t>Mode-specific extensions — design principle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916936"/>
            <a:ext cx="457200" cy="292608"/>
          </a:xfrm>
          <a:prstGeom prst="rect">
            <a:avLst/>
          </a:prstGeom>
          <a:solidFill>
            <a:srgbClr val="C175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916936"/>
            <a:ext cx="457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2880360"/>
            <a:ext cx="79552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  <a:latin typeface="Arial"/>
              </a:rPr>
              <a:t>Cross-cutting functional domains (13-domain matrix)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319272"/>
            <a:ext cx="457200" cy="292608"/>
          </a:xfrm>
          <a:prstGeom prst="rect">
            <a:avLst/>
          </a:prstGeom>
          <a:solidFill>
            <a:srgbClr val="C175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3319272"/>
            <a:ext cx="457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" y="3282696"/>
            <a:ext cx="79552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  <a:latin typeface="Arial"/>
              </a:rPr>
              <a:t>Five modularisation options — overview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3721608"/>
            <a:ext cx="457200" cy="292608"/>
          </a:xfrm>
          <a:prstGeom prst="rect">
            <a:avLst/>
          </a:prstGeom>
          <a:solidFill>
            <a:srgbClr val="C175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3721608"/>
            <a:ext cx="457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" y="3685032"/>
            <a:ext cx="79552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  <a:latin typeface="Arial"/>
              </a:rPr>
              <a:t>Option A — Functional Layer Model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123944"/>
            <a:ext cx="457200" cy="292608"/>
          </a:xfrm>
          <a:prstGeom prst="rect">
            <a:avLst/>
          </a:prstGeom>
          <a:solidFill>
            <a:srgbClr val="C175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4123944"/>
            <a:ext cx="457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1560" y="4087368"/>
            <a:ext cx="79552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  <a:latin typeface="Arial"/>
              </a:rPr>
              <a:t>Option B — Travel Lifecycle Model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4526280"/>
            <a:ext cx="457200" cy="292608"/>
          </a:xfrm>
          <a:prstGeom prst="rect">
            <a:avLst/>
          </a:prstGeom>
          <a:solidFill>
            <a:srgbClr val="C175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" y="4526280"/>
            <a:ext cx="457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10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" y="4489704"/>
            <a:ext cx="79552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  <a:latin typeface="Arial"/>
              </a:rPr>
              <a:t>Option C — Actor / Role-Based Model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4928616"/>
            <a:ext cx="457200" cy="292608"/>
          </a:xfrm>
          <a:prstGeom prst="rect">
            <a:avLst/>
          </a:prstGeom>
          <a:solidFill>
            <a:srgbClr val="C175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4928616"/>
            <a:ext cx="457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11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1560" y="4892040"/>
            <a:ext cx="79552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  <a:latin typeface="Arial"/>
              </a:rPr>
              <a:t>Option D — Transmodel Entity-Centric Model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" y="5330952"/>
            <a:ext cx="457200" cy="292608"/>
          </a:xfrm>
          <a:prstGeom prst="rect">
            <a:avLst/>
          </a:prstGeom>
          <a:solidFill>
            <a:srgbClr val="C175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7200" y="5330952"/>
            <a:ext cx="457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12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1560" y="5294376"/>
            <a:ext cx="79552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  <a:latin typeface="Arial"/>
              </a:rPr>
              <a:t>Option E — Hybrid: Lifecycle × Functional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7200" y="5733288"/>
            <a:ext cx="457200" cy="292608"/>
          </a:xfrm>
          <a:prstGeom prst="rect">
            <a:avLst/>
          </a:prstGeom>
          <a:solidFill>
            <a:srgbClr val="C175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7200" y="5733288"/>
            <a:ext cx="457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13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51560" y="5696712"/>
            <a:ext cx="79552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  <a:latin typeface="Arial"/>
              </a:rPr>
              <a:t>Comparison — scoring across six criteria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7200" y="6135624"/>
            <a:ext cx="457200" cy="292608"/>
          </a:xfrm>
          <a:prstGeom prst="rect">
            <a:avLst/>
          </a:prstGeom>
          <a:solidFill>
            <a:srgbClr val="C175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57200" y="6135624"/>
            <a:ext cx="457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14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51560" y="6099048"/>
            <a:ext cx="79552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  <a:latin typeface="Arial"/>
              </a:rPr>
              <a:t>Open questions for discussion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F3CC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0" y="73152"/>
            <a:ext cx="5486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4E3B30"/>
                </a:solidFill>
                <a:latin typeface="Arial"/>
              </a:rPr>
              <a:t>EUDIT — Modularising the Technical Specification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48640"/>
            <a:ext cx="8595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4E3B30"/>
                </a:solidFill>
                <a:latin typeface="Arial"/>
              </a:rPr>
              <a:t>Current Setup — Standards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1261872"/>
            <a:ext cx="8595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A19574"/>
                </a:solidFill>
                <a:latin typeface="Arial"/>
              </a:rPr>
              <a:t>Six standards, four design traditions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0" y="73152"/>
            <a:ext cx="1691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4E3B30"/>
                </a:solidFill>
                <a:latin typeface="Arial"/>
              </a:rPr>
              <a:t>Slide 3 / 14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228600" y="1664208"/>
          <a:ext cx="8686800" cy="48966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1005840"/>
                <a:gridCol w="411480"/>
                <a:gridCol w="5715000"/>
              </a:tblGrid>
              <a:tr h="699516"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Standard</a:t>
                      </a:r>
                    </a:p>
                  </a:txBody>
                  <a:tcPr>
                    <a:solidFill>
                      <a:srgbClr val="4E3B3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Format</a:t>
                      </a:r>
                    </a:p>
                  </a:txBody>
                  <a:tcPr>
                    <a:solidFill>
                      <a:srgbClr val="4E3B3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Ops</a:t>
                      </a:r>
                    </a:p>
                  </a:txBody>
                  <a:tcPr>
                    <a:solidFill>
                      <a:srgbClr val="4E3B3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Internal grouping</a:t>
                      </a:r>
                    </a:p>
                  </a:txBody>
                  <a:tcPr>
                    <a:solidFill>
                      <a:srgbClr val="4E3B30"/>
                    </a:solidFill>
                  </a:tcPr>
                </a:tc>
              </a:tr>
              <a:tr h="699516"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4E3B30"/>
                          </a:solidFill>
                          <a:latin typeface="Arial"/>
                        </a:rPr>
                        <a:t>OSDM 3.7.1</a:t>
                      </a:r>
                    </a:p>
                  </a:txBody>
                  <a:tcPr>
                    <a:solidFill>
                      <a:srgbClr val="FBEEC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000000"/>
                          </a:solidFill>
                          <a:latin typeface="Arial"/>
                        </a:rPr>
                        <a:t>OpenAPI 3.0.3</a:t>
                      </a:r>
                    </a:p>
                  </a:txBody>
                  <a:tcPr>
                    <a:solidFill>
                      <a:srgbClr val="FBEEC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000000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>
                    <a:solidFill>
                      <a:srgbClr val="FBEEC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000000"/>
                          </a:solidFill>
                          <a:latin typeface="Arial"/>
                        </a:rPr>
                        <a:t>27 named tags over 68 paths · 491 schemas · one 37k-line file</a:t>
                      </a:r>
                    </a:p>
                  </a:txBody>
                  <a:tcPr>
                    <a:solidFill>
                      <a:srgbClr val="FBEEC9"/>
                    </a:solidFill>
                  </a:tcPr>
                </a:tc>
              </a:tr>
              <a:tr h="699516"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4E3B30"/>
                          </a:solidFill>
                          <a:latin typeface="Arial"/>
                        </a:rPr>
                        <a:t>TOMP-API 2.0.0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000000"/>
                          </a:solidFill>
                          <a:latin typeface="Arial"/>
                        </a:rPr>
                        <a:t>OpenAPI 3.0.0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000000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000000"/>
                          </a:solidFill>
                          <a:latin typeface="Arial"/>
                        </a:rPr>
                        <a:t>11 tags · OGC API Processes pattern · async callbacks · 137 schemas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99516"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4E3B30"/>
                          </a:solidFill>
                          <a:latin typeface="Arial"/>
                        </a:rPr>
                        <a:t>TOMP-API-MP 2.0.0</a:t>
                      </a:r>
                    </a:p>
                  </a:txBody>
                  <a:tcPr>
                    <a:solidFill>
                      <a:srgbClr val="FBEEC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000000"/>
                          </a:solidFill>
                          <a:latin typeface="Arial"/>
                        </a:rPr>
                        <a:t>OpenAPI 3.0.0</a:t>
                      </a:r>
                    </a:p>
                  </a:txBody>
                  <a:tcPr>
                    <a:solidFill>
                      <a:srgbClr val="FBEEC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000000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>
                    <a:solidFill>
                      <a:srgbClr val="FBEEC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000000"/>
                          </a:solidFill>
                          <a:latin typeface="Arial"/>
                        </a:rPr>
                        <a:t>1 tag (notifications) · reverse channel · all $refs to TOMP-API sibling</a:t>
                      </a:r>
                    </a:p>
                  </a:txBody>
                  <a:tcPr>
                    <a:solidFill>
                      <a:srgbClr val="FBEEC9"/>
                    </a:solidFill>
                  </a:tcPr>
                </a:tc>
              </a:tr>
              <a:tr h="699516"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4E3B30"/>
                          </a:solidFill>
                          <a:latin typeface="Arial"/>
                        </a:rPr>
                        <a:t>OMSA 0.1.0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000000"/>
                          </a:solidFill>
                          <a:latin typeface="Arial"/>
                        </a:rPr>
                        <a:t>OpenAPI 3.0.0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000000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000000"/>
                          </a:solidFill>
                          <a:latin typeface="Arial"/>
                        </a:rPr>
                        <a:t>4 tags · same OGC Processes architecture as TOMP-API · draft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99516"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4E3B30"/>
                          </a:solidFill>
                          <a:latin typeface="Arial"/>
                        </a:rPr>
                        <a:t>BoB suite (×10)</a:t>
                      </a:r>
                    </a:p>
                  </a:txBody>
                  <a:tcPr>
                    <a:solidFill>
                      <a:srgbClr val="FBEEC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000000"/>
                          </a:solidFill>
                          <a:latin typeface="Arial"/>
                        </a:rPr>
                        <a:t>Swagger 2.0</a:t>
                      </a:r>
                    </a:p>
                  </a:txBody>
                  <a:tcPr>
                    <a:solidFill>
                      <a:srgbClr val="FBEEC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000000"/>
                          </a:solidFill>
                          <a:latin typeface="Arial"/>
                        </a:rPr>
                        <a:t>118</a:t>
                      </a:r>
                    </a:p>
                  </a:txBody>
                  <a:tcPr>
                    <a:solidFill>
                      <a:srgbClr val="FBEEC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000000"/>
                          </a:solidFill>
                          <a:latin typeface="Arial"/>
                        </a:rPr>
                        <a:t>10 independent microservice files · no cross-file $ref · flat definitions</a:t>
                      </a:r>
                    </a:p>
                  </a:txBody>
                  <a:tcPr>
                    <a:solidFill>
                      <a:srgbClr val="FBEEC9"/>
                    </a:solidFill>
                  </a:tcPr>
                </a:tc>
              </a:tr>
              <a:tr h="699516"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4E3B30"/>
                          </a:solidFill>
                          <a:latin typeface="Arial"/>
                        </a:rPr>
                        <a:t>FerryGateway 1.3.1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000000"/>
                          </a:solidFill>
                          <a:latin typeface="Arial"/>
                        </a:rPr>
                        <a:t>XSD 1.0 (RPC)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000000"/>
                          </a:solidFill>
                          <a:latin typeface="Arial"/>
                        </a:rPr>
                        <a:t>15 pairs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000000"/>
                          </a:solidFill>
                          <a:latin typeface="Arial"/>
                        </a:rPr>
                        <a:t>15 request/response pairs · 179 complexTypes · xs:extension inheritance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F3CC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0" y="73152"/>
            <a:ext cx="5486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4E3B30"/>
                </a:solidFill>
                <a:latin typeface="Arial"/>
              </a:rPr>
              <a:t>EUDIT — Modularising the Technical Specification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48640"/>
            <a:ext cx="8595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4E3B30"/>
                </a:solidFill>
                <a:latin typeface="Arial"/>
              </a:rPr>
              <a:t>Current Setup — Key Cross-Spec Observations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0" y="73152"/>
            <a:ext cx="1691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4E3B30"/>
                </a:solidFill>
                <a:latin typeface="Arial"/>
              </a:rPr>
              <a:t>Slide 4 / 14</a:t>
            </a:r>
          </a:p>
        </p:txBody>
      </p:sp>
      <p:sp>
        <p:nvSpPr>
          <p:cNvPr id="6" name="Rectangle 5"/>
          <p:cNvSpPr/>
          <p:nvPr/>
        </p:nvSpPr>
        <p:spPr>
          <a:xfrm>
            <a:off x="228600" y="1709928"/>
            <a:ext cx="329184" cy="329184"/>
          </a:xfrm>
          <a:prstGeom prst="rect">
            <a:avLst/>
          </a:prstGeom>
          <a:solidFill>
            <a:srgbClr val="C175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28600" y="1709928"/>
            <a:ext cx="32918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6733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4E3B30"/>
                </a:solidFill>
                <a:latin typeface="Arial"/>
              </a:rPr>
              <a:t>TOMP-API and OMSA share an architecture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94767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Arial"/>
              </a:rPr>
              <a:t>Both use the OGC API Processes pattern (/processes/{op}/execution), identical 5-scheme security, and async job callbacks — but differ in minor naming (/execute vs /execution).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228600" y="2660904"/>
            <a:ext cx="329184" cy="329184"/>
          </a:xfrm>
          <a:prstGeom prst="rect">
            <a:avLst/>
          </a:prstGeom>
          <a:solidFill>
            <a:srgbClr val="C175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28600" y="2660904"/>
            <a:ext cx="32918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2624328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4E3B30"/>
                </a:solidFill>
                <a:latin typeface="Arial"/>
              </a:rPr>
              <a:t>BoB spatial types are duplicated across 5 of 10 files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898648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Arial"/>
              </a:rPr>
              <a:t>geoPosition, circle, polygon, and polyline are independently redefined in BoB Traveller, Product, Validation, Inspection, and Ticket — no shared library exists. A shared schema module would eliminate this.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28600" y="3611880"/>
            <a:ext cx="329184" cy="329184"/>
          </a:xfrm>
          <a:prstGeom prst="rect">
            <a:avLst/>
          </a:prstGeom>
          <a:solidFill>
            <a:srgbClr val="C175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28600" y="3611880"/>
            <a:ext cx="32918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3575304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4E3B30"/>
                </a:solidFill>
                <a:latin typeface="Arial"/>
              </a:rPr>
              <a:t>Transport modes require genuinely different process flows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3849624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Arial"/>
              </a:rPr>
              <a:t>Rail (OSDM) needs seat reservations and fare-zone structures; shared mobility (TOMP-API) needs asset access codes and pausing; ferries (FerryGateway) bundle vehicle + passenger booking; BoB adds physical token inspection. Any module boundary must accommodate mode-specific extensions.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28600" y="4562856"/>
            <a:ext cx="329184" cy="329184"/>
          </a:xfrm>
          <a:prstGeom prst="rect">
            <a:avLst/>
          </a:prstGeom>
          <a:solidFill>
            <a:srgbClr val="C175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28600" y="4562856"/>
            <a:ext cx="32918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4526280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4E3B30"/>
                </a:solidFill>
                <a:latin typeface="Arial"/>
              </a:rPr>
              <a:t>FerryGateway bundles multiple lifecycle phases per message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48006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Arial"/>
              </a:rPr>
              <a:t>The Book, Reservation, and ConfirmReservation pairs each span what other standards handle as separate API calls. Any module boundary must acknowledge FerryGateway's coarser granularity.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28600" y="5513832"/>
            <a:ext cx="329184" cy="329184"/>
          </a:xfrm>
          <a:prstGeom prst="rect">
            <a:avLst/>
          </a:prstGeom>
          <a:solidFill>
            <a:srgbClr val="C175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28600" y="5513832"/>
            <a:ext cx="32918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5477256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4E3B30"/>
                </a:solidFill>
                <a:latin typeface="Arial"/>
              </a:rPr>
              <a:t>Domain 9 (Validation &amp; Inspection) is BoB-only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5751576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Arial"/>
              </a:rPr>
              <a:t>No other standard in the set covers physical token inspection. This domain requires a deliberate TS decision: dedicated module or sub-section of Fulfillment pending other standards adding inspection?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F3CC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0" y="73152"/>
            <a:ext cx="5486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4E3B30"/>
                </a:solidFill>
                <a:latin typeface="Arial"/>
              </a:rPr>
              <a:t>EUDIT — Modularising the Technical Specification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48640"/>
            <a:ext cx="8595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4E3B30"/>
                </a:solidFill>
                <a:latin typeface="Arial"/>
              </a:rPr>
              <a:t>Mode-Specific Extensions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1261872"/>
            <a:ext cx="8595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A19574"/>
                </a:solidFill>
                <a:latin typeface="Arial"/>
              </a:rPr>
              <a:t>Transport modes differ in process flows, endpoints, and concepts — modules should support mode profiles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0" y="73152"/>
            <a:ext cx="1691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4E3B30"/>
                </a:solidFill>
                <a:latin typeface="Arial"/>
              </a:rPr>
              <a:t>Slide 5 / 14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627632"/>
            <a:ext cx="3840480" cy="777240"/>
          </a:xfrm>
          <a:prstGeom prst="rect">
            <a:avLst/>
          </a:prstGeom>
          <a:solidFill>
            <a:srgbClr val="4E3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1719072"/>
            <a:ext cx="3621024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BASE MODULE INTERFACE
(common endpoints, schemas, process flow)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2404872"/>
            <a:ext cx="38404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CCCCCC"/>
                </a:solidFill>
                <a:latin typeface="Arial"/>
              </a:rPr>
              <a:t>extends  ↓  (mode-specific profile adds to base)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2770632"/>
            <a:ext cx="1231392" cy="310896"/>
          </a:xfrm>
          <a:prstGeom prst="rect">
            <a:avLst/>
          </a:prstGeom>
          <a:solidFill>
            <a:srgbClr val="4E3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040" y="2798064"/>
            <a:ext cx="1158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Arial"/>
              </a:rPr>
              <a:t>Rail  (OSDM)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3081528"/>
            <a:ext cx="1231392" cy="1467612"/>
          </a:xfrm>
          <a:prstGeom prst="rect">
            <a:avLst/>
          </a:prstGeom>
          <a:solidFill>
            <a:srgbClr val="F2F2F2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9184" y="3118104"/>
            <a:ext cx="1139952" cy="13578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000000"/>
                </a:solidFill>
                <a:latin typeface="Arial"/>
              </a:rPr>
              <a:t>Seat reservation
Fare zones
Delay certificates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578864" y="2770632"/>
            <a:ext cx="1231392" cy="310896"/>
          </a:xfrm>
          <a:prstGeom prst="rect">
            <a:avLst/>
          </a:prstGeom>
          <a:solidFill>
            <a:srgbClr val="C175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624584" y="2798064"/>
            <a:ext cx="1158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Arial"/>
              </a:rPr>
              <a:t>Shared Mobility  (TOMP-API)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578864" y="3081528"/>
            <a:ext cx="1231392" cy="1467612"/>
          </a:xfrm>
          <a:prstGeom prst="rect">
            <a:avLst/>
          </a:prstGeom>
          <a:solidFill>
            <a:srgbClr val="F2F2F2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633728" y="3118104"/>
            <a:ext cx="1139952" cy="13578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000000"/>
                </a:solidFill>
                <a:latin typeface="Arial"/>
              </a:rPr>
              <a:t>Asset access codes
Pausing a leg
Damage reporting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883408" y="2770632"/>
            <a:ext cx="1231392" cy="310896"/>
          </a:xfrm>
          <a:prstGeom prst="rect">
            <a:avLst/>
          </a:prstGeom>
          <a:solidFill>
            <a:srgbClr val="A19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929128" y="2798064"/>
            <a:ext cx="1158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Arial"/>
              </a:rPr>
              <a:t>Ferry  (FerryGateway)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883408" y="3081528"/>
            <a:ext cx="1231392" cy="1467612"/>
          </a:xfrm>
          <a:prstGeom prst="rect">
            <a:avLst/>
          </a:prstGeom>
          <a:solidFill>
            <a:srgbClr val="F2F2F2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938272" y="3118104"/>
            <a:ext cx="1139952" cy="13578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000000"/>
                </a:solidFill>
                <a:latin typeface="Arial"/>
              </a:rPr>
              <a:t>Vehicle + passenger
Sailing schedules
Vehicle constraints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" y="4622292"/>
            <a:ext cx="1231392" cy="310896"/>
          </a:xfrm>
          <a:prstGeom prst="rect">
            <a:avLst/>
          </a:prstGeom>
          <a:solidFill>
            <a:srgbClr val="4E3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20040" y="4649724"/>
            <a:ext cx="1158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Arial"/>
              </a:rPr>
              <a:t>Public Transit  (BoB)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4320" y="4933188"/>
            <a:ext cx="1231392" cy="1467612"/>
          </a:xfrm>
          <a:prstGeom prst="rect">
            <a:avLst/>
          </a:prstGeom>
          <a:solidFill>
            <a:srgbClr val="F2F2F2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29184" y="4969764"/>
            <a:ext cx="1139952" cy="13578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000000"/>
                </a:solidFill>
                <a:latin typeface="Arial"/>
              </a:rPr>
              <a:t>Zone ticketing
Physical inspection
Fare gate validation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578864" y="4622292"/>
            <a:ext cx="1231392" cy="310896"/>
          </a:xfrm>
          <a:prstGeom prst="rect">
            <a:avLst/>
          </a:prstGeom>
          <a:solidFill>
            <a:srgbClr val="C175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624584" y="4649724"/>
            <a:ext cx="1158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Arial"/>
              </a:rPr>
              <a:t>On-Demand  (OMSA)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578864" y="4933188"/>
            <a:ext cx="1231392" cy="1467612"/>
          </a:xfrm>
          <a:prstGeom prst="rect">
            <a:avLst/>
          </a:prstGeom>
          <a:solidFill>
            <a:srgbClr val="F2F2F2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633728" y="4969764"/>
            <a:ext cx="1139952" cy="13578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000000"/>
                </a:solidFill>
                <a:latin typeface="Arial"/>
              </a:rPr>
              <a:t>Booking windows
Real-time dispatch
Pick-up confirmation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883408" y="4622292"/>
            <a:ext cx="1231392" cy="310896"/>
          </a:xfrm>
          <a:prstGeom prst="rect">
            <a:avLst/>
          </a:prstGeom>
          <a:solidFill>
            <a:srgbClr val="A19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929128" y="4649724"/>
            <a:ext cx="1158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Arial"/>
              </a:rPr>
              <a:t>EV / Car-share  (TOMP ext.)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883408" y="4933188"/>
            <a:ext cx="1231392" cy="1467612"/>
          </a:xfrm>
          <a:prstGeom prst="rect">
            <a:avLst/>
          </a:prstGeom>
          <a:solidFill>
            <a:srgbClr val="F2F2F2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938272" y="4969764"/>
            <a:ext cx="1139952" cy="13578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000000"/>
                </a:solidFill>
                <a:latin typeface="Arial"/>
              </a:rPr>
              <a:t>Charging sessions
Car access codes
Fleet telemetry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251960" y="1627632"/>
            <a:ext cx="4709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4E3B30"/>
                </a:solidFill>
                <a:latin typeface="Arial"/>
              </a:rPr>
              <a:t>Why mode-specific extensions matter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251960" y="2057400"/>
            <a:ext cx="64008" cy="182880"/>
          </a:xfrm>
          <a:prstGeom prst="rect">
            <a:avLst/>
          </a:prstGeom>
          <a:solidFill>
            <a:srgbClr val="C175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361688" y="2011680"/>
            <a:ext cx="459943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4E3B30"/>
                </a:solidFill>
                <a:latin typeface="Arial"/>
              </a:rPr>
              <a:t>Process flow differences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361688" y="2231136"/>
            <a:ext cx="4599432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Arial"/>
              </a:rPr>
              <a:t>Rail booking requires multi-step seat selection before payment; bike-share booking requires only an asset-unlock command. The same 'Booking' module cannot prescribe a single flow for both.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251960" y="2971800"/>
            <a:ext cx="64008" cy="182880"/>
          </a:xfrm>
          <a:prstGeom prst="rect">
            <a:avLst/>
          </a:prstGeom>
          <a:solidFill>
            <a:srgbClr val="C175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361688" y="2926080"/>
            <a:ext cx="459943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4E3B30"/>
                </a:solidFill>
                <a:latin typeface="Arial"/>
              </a:rPr>
              <a:t>Endpoint &amp; schema differences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361688" y="3145536"/>
            <a:ext cx="4599432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Arial"/>
              </a:rPr>
              <a:t>Ferry adds GetSailings, vehicle-capacity constraints, and GetBusTransfer. BoB adds physical token validation endpoints. These have no equivalent in other modes.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251960" y="3886200"/>
            <a:ext cx="64008" cy="182880"/>
          </a:xfrm>
          <a:prstGeom prst="rect">
            <a:avLst/>
          </a:prstGeom>
          <a:solidFill>
            <a:srgbClr val="C175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361688" y="3840480"/>
            <a:ext cx="459943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4E3B30"/>
                </a:solidFill>
                <a:latin typeface="Arial"/>
              </a:rPr>
              <a:t>Concept differences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361688" y="4059936"/>
            <a:ext cx="4599432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Arial"/>
              </a:rPr>
              <a:t>OSDM defines FARE ZONE, SEAT RESERVATION, EXCHANGE ELEMENT; TOMP-API defines assetState, supportType, legReference. Mode-specific sub-sections can define these without polluting the base.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251960" y="4800600"/>
            <a:ext cx="64008" cy="182880"/>
          </a:xfrm>
          <a:prstGeom prst="rect">
            <a:avLst/>
          </a:prstGeom>
          <a:solidFill>
            <a:srgbClr val="C175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361688" y="4754880"/>
            <a:ext cx="459943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4E3B30"/>
                </a:solidFill>
                <a:latin typeface="Arial"/>
              </a:rPr>
              <a:t>Design principle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361688" y="4974336"/>
            <a:ext cx="4599432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Arial"/>
              </a:rPr>
              <a:t>Each module should define a common base interface (mandatory) plus zero or more mode-specific profiles (optional annex sections). This prevents fragmentation while enabling full interoperability.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251960" y="5623560"/>
            <a:ext cx="4709160" cy="694944"/>
          </a:xfrm>
          <a:prstGeom prst="rect">
            <a:avLst/>
          </a:prstGeom>
          <a:solidFill>
            <a:srgbClr val="FFF5E0"/>
          </a:solidFill>
          <a:ln w="9525">
            <a:solidFill>
              <a:srgbClr val="D68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343400" y="5696712"/>
            <a:ext cx="454456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D68A00"/>
                </a:solidFill>
                <a:latin typeface="Arial"/>
              </a:rPr>
              <a:t>All five modularisation options presented in this deck apply this principle — diagrams on each option slide show the mode-extensions layer explicitly.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F3CC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0" y="73152"/>
            <a:ext cx="5486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4E3B30"/>
                </a:solidFill>
                <a:latin typeface="Arial"/>
              </a:rPr>
              <a:t>EUDIT — Modularising the Technical Specification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48640"/>
            <a:ext cx="8595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4E3B30"/>
                </a:solidFill>
                <a:latin typeface="Arial"/>
              </a:rPr>
              <a:t>Cross-Cutting Functional Domains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1261872"/>
            <a:ext cx="8595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A19574"/>
                </a:solidFill>
                <a:latin typeface="Arial"/>
              </a:rPr>
              <a:t>13 domains identified across all standards  ·  ✓ = covered  ·  — = not present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0" y="73152"/>
            <a:ext cx="1691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4E3B30"/>
                </a:solidFill>
                <a:latin typeface="Arial"/>
              </a:rPr>
              <a:t>Slide 6 / 14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182880" y="1664208"/>
          <a:ext cx="8778240" cy="4915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"/>
                <a:gridCol w="2962656"/>
                <a:gridCol w="923544"/>
                <a:gridCol w="923544"/>
                <a:gridCol w="923544"/>
                <a:gridCol w="923544"/>
                <a:gridCol w="923544"/>
                <a:gridCol w="923544"/>
              </a:tblGrid>
              <a:tr h="351129"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>
                    <a:solidFill>
                      <a:srgbClr val="4E3B3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FFFFFF"/>
                          </a:solidFill>
                          <a:latin typeface="Arial"/>
                        </a:rPr>
                        <a:t>Domain</a:t>
                      </a:r>
                    </a:p>
                  </a:txBody>
                  <a:tcPr>
                    <a:solidFill>
                      <a:srgbClr val="4E3B3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Arial"/>
                        </a:rPr>
                        <a:t>OSDM</a:t>
                      </a:r>
                    </a:p>
                  </a:txBody>
                  <a:tcPr>
                    <a:solidFill>
                      <a:srgbClr val="4E3B3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Arial"/>
                        </a:rPr>
                        <a:t>TOMP-API</a:t>
                      </a:r>
                    </a:p>
                  </a:txBody>
                  <a:tcPr>
                    <a:solidFill>
                      <a:srgbClr val="4E3B3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Arial"/>
                        </a:rPr>
                        <a:t>TOMP-MP</a:t>
                      </a:r>
                    </a:p>
                  </a:txBody>
                  <a:tcPr>
                    <a:solidFill>
                      <a:srgbClr val="4E3B3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Arial"/>
                        </a:rPr>
                        <a:t>OMSA</a:t>
                      </a:r>
                    </a:p>
                  </a:txBody>
                  <a:tcPr>
                    <a:solidFill>
                      <a:srgbClr val="4E3B3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Arial"/>
                        </a:rPr>
                        <a:t>BoB</a:t>
                      </a:r>
                    </a:p>
                  </a:txBody>
                  <a:tcPr>
                    <a:solidFill>
                      <a:srgbClr val="4E3B3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Arial"/>
                        </a:rPr>
                        <a:t>FerryGW</a:t>
                      </a:r>
                    </a:p>
                  </a:txBody>
                  <a:tcPr>
                    <a:solidFill>
                      <a:srgbClr val="4E3B30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C17529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>
                    <a:solidFill>
                      <a:srgbClr val="FBEEC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000000"/>
                          </a:solidFill>
                          <a:latin typeface="Arial"/>
                        </a:rPr>
                        <a:t>Network &amp; Service Discovery</a:t>
                      </a:r>
                    </a:p>
                  </a:txBody>
                  <a:tcPr>
                    <a:solidFill>
                      <a:srgbClr val="FBEEC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378644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>
                    <a:solidFill>
                      <a:srgbClr val="FBEEC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378644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>
                    <a:solidFill>
                      <a:srgbClr val="FBEEC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CCCCCC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>
                    <a:solidFill>
                      <a:srgbClr val="FBEEC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378644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>
                    <a:solidFill>
                      <a:srgbClr val="FBEEC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378644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>
                    <a:solidFill>
                      <a:srgbClr val="FBEEC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378644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>
                    <a:solidFill>
                      <a:srgbClr val="FBEEC9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C17529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000000"/>
                          </a:solidFill>
                          <a:latin typeface="Arial"/>
                        </a:rPr>
                        <a:t>Journey / Trip Planning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378644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378644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CCCCCC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378644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CCCCCC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378644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C17529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>
                    <a:solidFill>
                      <a:srgbClr val="FBEEC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000000"/>
                          </a:solidFill>
                          <a:latin typeface="Arial"/>
                        </a:rPr>
                        <a:t>Pricing &amp; Offers</a:t>
                      </a:r>
                    </a:p>
                  </a:txBody>
                  <a:tcPr>
                    <a:solidFill>
                      <a:srgbClr val="FBEEC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378644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>
                    <a:solidFill>
                      <a:srgbClr val="FBEEC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378644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>
                    <a:solidFill>
                      <a:srgbClr val="FBEEC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CCCCCC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>
                    <a:solidFill>
                      <a:srgbClr val="FBEEC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378644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>
                    <a:solidFill>
                      <a:srgbClr val="FBEEC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378644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>
                    <a:solidFill>
                      <a:srgbClr val="FBEEC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378644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>
                    <a:solidFill>
                      <a:srgbClr val="FBEEC9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C17529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000000"/>
                          </a:solidFill>
                          <a:latin typeface="Arial"/>
                        </a:rPr>
                        <a:t>Booking &amp; Reservation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378644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378644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CCCCCC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378644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378644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378644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C17529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>
                    <a:solidFill>
                      <a:srgbClr val="FBEEC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000000"/>
                          </a:solidFill>
                          <a:latin typeface="Arial"/>
                        </a:rPr>
                        <a:t>Fulfillment &amp; Ticketing</a:t>
                      </a:r>
                    </a:p>
                  </a:txBody>
                  <a:tcPr>
                    <a:solidFill>
                      <a:srgbClr val="FBEEC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378644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>
                    <a:solidFill>
                      <a:srgbClr val="FBEEC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378644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>
                    <a:solidFill>
                      <a:srgbClr val="FBEEC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CCCCCC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>
                    <a:solidFill>
                      <a:srgbClr val="FBEEC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378644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>
                    <a:solidFill>
                      <a:srgbClr val="FBEEC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378644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>
                    <a:solidFill>
                      <a:srgbClr val="FBEEC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CCCCCC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>
                    <a:solidFill>
                      <a:srgbClr val="FBEEC9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C17529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000000"/>
                          </a:solidFill>
                          <a:latin typeface="Arial"/>
                        </a:rPr>
                        <a:t>After-Sales (Refund / Exchange / Cancel)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378644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378644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378644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378644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378644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378644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C17529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>
                    <a:solidFill>
                      <a:srgbClr val="FBEEC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000000"/>
                          </a:solidFill>
                          <a:latin typeface="Arial"/>
                        </a:rPr>
                        <a:t>Traveller &amp; Account Management</a:t>
                      </a:r>
                    </a:p>
                  </a:txBody>
                  <a:tcPr>
                    <a:solidFill>
                      <a:srgbClr val="FBEEC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378644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>
                    <a:solidFill>
                      <a:srgbClr val="FBEEC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378644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>
                    <a:solidFill>
                      <a:srgbClr val="FBEEC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CCCCCC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>
                    <a:solidFill>
                      <a:srgbClr val="FBEEC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378644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>
                    <a:solidFill>
                      <a:srgbClr val="FBEEC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378644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>
                    <a:solidFill>
                      <a:srgbClr val="FBEEC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CCCCCC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>
                    <a:solidFill>
                      <a:srgbClr val="FBEEC9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C17529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000000"/>
                          </a:solidFill>
                          <a:latin typeface="Arial"/>
                        </a:rPr>
                        <a:t>Asset &amp; Token Management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CCCCCC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378644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CCCCCC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378644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378644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CCCCCC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C17529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>
                    <a:solidFill>
                      <a:srgbClr val="FBEEC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000000"/>
                          </a:solidFill>
                          <a:latin typeface="Arial"/>
                        </a:rPr>
                        <a:t>Validation &amp; Inspection</a:t>
                      </a:r>
                    </a:p>
                  </a:txBody>
                  <a:tcPr>
                    <a:solidFill>
                      <a:srgbClr val="FBEEC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CCCCCC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>
                    <a:solidFill>
                      <a:srgbClr val="FBEEC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CCCCCC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>
                    <a:solidFill>
                      <a:srgbClr val="FBEEC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CCCCCC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>
                    <a:solidFill>
                      <a:srgbClr val="FBEEC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CCCCCC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>
                    <a:solidFill>
                      <a:srgbClr val="FBEEC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378644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>
                    <a:solidFill>
                      <a:srgbClr val="FBEEC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CCCCCC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>
                    <a:solidFill>
                      <a:srgbClr val="FBEEC9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C17529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000000"/>
                          </a:solidFill>
                          <a:latin typeface="Arial"/>
                        </a:rPr>
                        <a:t>Notifications &amp; Async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CCCCCC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378644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378644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378644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CCCCCC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CCCCCC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C17529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>
                    <a:solidFill>
                      <a:srgbClr val="FBEEC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000000"/>
                          </a:solidFill>
                          <a:latin typeface="Arial"/>
                        </a:rPr>
                        <a:t>Identity, Auth &amp; Participant Metadata</a:t>
                      </a:r>
                    </a:p>
                  </a:txBody>
                  <a:tcPr>
                    <a:solidFill>
                      <a:srgbClr val="FBEEC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378644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>
                    <a:solidFill>
                      <a:srgbClr val="FBEEC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378644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>
                    <a:solidFill>
                      <a:srgbClr val="FBEEC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CCCCCC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>
                    <a:solidFill>
                      <a:srgbClr val="FBEEC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378644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>
                    <a:solidFill>
                      <a:srgbClr val="FBEEC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378644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>
                    <a:solidFill>
                      <a:srgbClr val="FBEEC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CCCCCC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>
                    <a:solidFill>
                      <a:srgbClr val="FBEEC9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C17529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000000"/>
                          </a:solidFill>
                          <a:latin typeface="Arial"/>
                        </a:rPr>
                        <a:t>Documents &amp; Invoices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378644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CCCCCC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CCCCCC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CCCCCC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CCCCCC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378644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C17529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>
                    <a:solidFill>
                      <a:srgbClr val="FBEEC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000000"/>
                          </a:solidFill>
                          <a:latin typeface="Arial"/>
                        </a:rPr>
                        <a:t>Complaints &amp; Support</a:t>
                      </a:r>
                    </a:p>
                  </a:txBody>
                  <a:tcPr>
                    <a:solidFill>
                      <a:srgbClr val="FBEEC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378644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>
                    <a:solidFill>
                      <a:srgbClr val="FBEEC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378644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>
                    <a:solidFill>
                      <a:srgbClr val="FBEEC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CCCCCC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>
                    <a:solidFill>
                      <a:srgbClr val="FBEEC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378644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>
                    <a:solidFill>
                      <a:srgbClr val="FBEEC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CCCCCC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>
                    <a:solidFill>
                      <a:srgbClr val="FBEEC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CCCCCC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>
                    <a:solidFill>
                      <a:srgbClr val="FBEEC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F3CC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0" y="73152"/>
            <a:ext cx="5486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4E3B30"/>
                </a:solidFill>
                <a:latin typeface="Arial"/>
              </a:rPr>
              <a:t>EUDIT — Modularising the Technical Specification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48640"/>
            <a:ext cx="8595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4E3B30"/>
                </a:solidFill>
                <a:latin typeface="Arial"/>
              </a:rPr>
              <a:t>Five Modularisation Options —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1261872"/>
            <a:ext cx="8595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A19574"/>
                </a:solidFill>
                <a:latin typeface="Arial"/>
              </a:rPr>
              <a:t>Each option applies the mode-specific extensions principle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0" y="73152"/>
            <a:ext cx="1691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4E3B30"/>
                </a:solidFill>
                <a:latin typeface="Arial"/>
              </a:rPr>
              <a:t>Slide 7 / 14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673352"/>
            <a:ext cx="475488" cy="804672"/>
          </a:xfrm>
          <a:prstGeom prst="rect">
            <a:avLst/>
          </a:prstGeom>
          <a:solidFill>
            <a:srgbClr val="C175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764792"/>
            <a:ext cx="475488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1709928"/>
            <a:ext cx="8046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4E3B30"/>
                </a:solidFill>
                <a:latin typeface="Arial"/>
              </a:rPr>
              <a:t>Functional Layer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" y="2075688"/>
            <a:ext cx="8046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  <a:latin typeface="Arial"/>
              </a:rPr>
              <a:t>One chapter per functional domain  ·  13 modules  ·  lowest editorial complexity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2633472"/>
            <a:ext cx="475488" cy="804672"/>
          </a:xfrm>
          <a:prstGeom prst="rect">
            <a:avLst/>
          </a:prstGeom>
          <a:solidFill>
            <a:srgbClr val="C175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4320" y="2724912"/>
            <a:ext cx="475488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Arial"/>
              </a:rPr>
              <a:t>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6968" y="2670048"/>
            <a:ext cx="8046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4E3B30"/>
                </a:solidFill>
                <a:latin typeface="Arial"/>
              </a:rPr>
              <a:t>Travel Lifecycle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6968" y="3035808"/>
            <a:ext cx="8046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  <a:latin typeface="Arial"/>
              </a:rPr>
              <a:t>One chapter per journey phase  ·  5 phases + cross-cutting  ·  best narrative flow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3593592"/>
            <a:ext cx="475488" cy="804672"/>
          </a:xfrm>
          <a:prstGeom prst="rect">
            <a:avLst/>
          </a:prstGeom>
          <a:solidFill>
            <a:srgbClr val="C175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4320" y="3685032"/>
            <a:ext cx="475488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Arial"/>
              </a:rPr>
              <a:t>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6968" y="3630168"/>
            <a:ext cx="8046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4E3B30"/>
                </a:solidFill>
                <a:latin typeface="Arial"/>
              </a:rPr>
              <a:t>Actor / Role-Based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6968" y="3995928"/>
            <a:ext cx="8046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  <a:latin typeface="Arial"/>
              </a:rPr>
              <a:t>One chapter per stakeholder role  ·  5 roles  ·  aligned with wiki/roles.md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4553712"/>
            <a:ext cx="475488" cy="804672"/>
          </a:xfrm>
          <a:prstGeom prst="rect">
            <a:avLst/>
          </a:prstGeom>
          <a:solidFill>
            <a:srgbClr val="C175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4320" y="4645152"/>
            <a:ext cx="475488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Arial"/>
              </a:rPr>
              <a:t>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6968" y="4590288"/>
            <a:ext cx="8046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4E3B30"/>
                </a:solidFill>
                <a:latin typeface="Arial"/>
              </a:rPr>
              <a:t>Transmodel Entity-Centric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6968" y="4956048"/>
            <a:ext cx="8046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  <a:latin typeface="Arial"/>
              </a:rPr>
              <a:t>One chapter per Transmodel entity family  ·  7 entities  ·  maximum Transmodel alignment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5513832"/>
            <a:ext cx="475488" cy="804672"/>
          </a:xfrm>
          <a:prstGeom prst="rect">
            <a:avLst/>
          </a:prstGeom>
          <a:solidFill>
            <a:srgbClr val="C175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74320" y="5605272"/>
            <a:ext cx="475488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Arial"/>
              </a:rPr>
              <a:t>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6968" y="5550408"/>
            <a:ext cx="8046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4E3B30"/>
                </a:solidFill>
                <a:latin typeface="Arial"/>
              </a:rPr>
              <a:t>Hybrid: Lifecycle × Functional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6968" y="5916168"/>
            <a:ext cx="8046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  <a:latin typeface="Arial"/>
              </a:rPr>
              <a:t>Lifecycle phases as top level; functional sub-modules within  ·  6 phases × N sub-modules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F3CC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0" y="73152"/>
            <a:ext cx="5486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4E3B30"/>
                </a:solidFill>
                <a:latin typeface="Arial"/>
              </a:rPr>
              <a:t>EUDIT — Modularising the Technical Specification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48640"/>
            <a:ext cx="8595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4E3B30"/>
                </a:solidFill>
                <a:latin typeface="Arial"/>
              </a:rPr>
              <a:t>Option A — Functional Layer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1261872"/>
            <a:ext cx="8595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A19574"/>
                </a:solidFill>
                <a:latin typeface="Arial"/>
              </a:rPr>
              <a:t>One module per functional domain · 13 modules · lowest editorial complexity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0" y="73152"/>
            <a:ext cx="1691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4E3B30"/>
                </a:solidFill>
                <a:latin typeface="Arial"/>
              </a:rPr>
              <a:t>Slide 8 / 14</a:t>
            </a:r>
          </a:p>
        </p:txBody>
      </p:sp>
      <p:sp>
        <p:nvSpPr>
          <p:cNvPr id="7" name="Rectangle 6"/>
          <p:cNvSpPr/>
          <p:nvPr/>
        </p:nvSpPr>
        <p:spPr>
          <a:xfrm>
            <a:off x="182880" y="1627632"/>
            <a:ext cx="2423160" cy="4864608"/>
          </a:xfrm>
          <a:prstGeom prst="rect">
            <a:avLst/>
          </a:prstGeom>
          <a:solidFill>
            <a:srgbClr val="F2F2F2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682496"/>
            <a:ext cx="22585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4E3B30"/>
                </a:solidFill>
                <a:latin typeface="Arial"/>
              </a:rPr>
              <a:t>Proposed modules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1975104"/>
            <a:ext cx="2258568" cy="44256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</a:pPr>
            <a:r>
              <a:rPr sz="900">
                <a:solidFill>
                  <a:srgbClr val="000000"/>
                </a:solidFill>
                <a:latin typeface="Arial"/>
              </a:rPr>
              <a:t>• 1.  Network &amp; Service Discovery</a:t>
            </a:r>
          </a:p>
          <a:p>
            <a:pPr>
              <a:spcBef>
                <a:spcPts val="200"/>
              </a:spcBef>
            </a:pPr>
            <a:r>
              <a:rPr sz="900">
                <a:solidFill>
                  <a:srgbClr val="000000"/>
                </a:solidFill>
                <a:latin typeface="Arial"/>
              </a:rPr>
              <a:t>• 2.  Journey / Trip Planning</a:t>
            </a:r>
          </a:p>
          <a:p>
            <a:pPr>
              <a:spcBef>
                <a:spcPts val="200"/>
              </a:spcBef>
            </a:pPr>
            <a:r>
              <a:rPr sz="900">
                <a:solidFill>
                  <a:srgbClr val="000000"/>
                </a:solidFill>
                <a:latin typeface="Arial"/>
              </a:rPr>
              <a:t>• 3.  Pricing &amp; Offers</a:t>
            </a:r>
          </a:p>
          <a:p>
            <a:pPr>
              <a:spcBef>
                <a:spcPts val="200"/>
              </a:spcBef>
            </a:pPr>
            <a:r>
              <a:rPr sz="900">
                <a:solidFill>
                  <a:srgbClr val="000000"/>
                </a:solidFill>
                <a:latin typeface="Arial"/>
              </a:rPr>
              <a:t>• 4.  Booking &amp; Reservation</a:t>
            </a:r>
          </a:p>
          <a:p>
            <a:pPr>
              <a:spcBef>
                <a:spcPts val="200"/>
              </a:spcBef>
            </a:pPr>
            <a:r>
              <a:rPr sz="900">
                <a:solidFill>
                  <a:srgbClr val="000000"/>
                </a:solidFill>
                <a:latin typeface="Arial"/>
              </a:rPr>
              <a:t>• 5.  Fulfillment &amp; Ticketing</a:t>
            </a:r>
          </a:p>
          <a:p>
            <a:pPr>
              <a:spcBef>
                <a:spcPts val="200"/>
              </a:spcBef>
            </a:pPr>
            <a:r>
              <a:rPr sz="900">
                <a:solidFill>
                  <a:srgbClr val="000000"/>
                </a:solidFill>
                <a:latin typeface="Arial"/>
              </a:rPr>
              <a:t>• 6.  After-Sales (Refund / Exchange / Cancel)</a:t>
            </a:r>
          </a:p>
          <a:p>
            <a:pPr>
              <a:spcBef>
                <a:spcPts val="200"/>
              </a:spcBef>
            </a:pPr>
            <a:r>
              <a:rPr sz="900">
                <a:solidFill>
                  <a:srgbClr val="000000"/>
                </a:solidFill>
                <a:latin typeface="Arial"/>
              </a:rPr>
              <a:t>• 7.  Traveller &amp; Account Management</a:t>
            </a:r>
          </a:p>
          <a:p>
            <a:pPr>
              <a:spcBef>
                <a:spcPts val="200"/>
              </a:spcBef>
            </a:pPr>
            <a:r>
              <a:rPr sz="900">
                <a:solidFill>
                  <a:srgbClr val="000000"/>
                </a:solidFill>
                <a:latin typeface="Arial"/>
              </a:rPr>
              <a:t>• 8.  Asset &amp; Token Management</a:t>
            </a:r>
          </a:p>
          <a:p>
            <a:pPr>
              <a:spcBef>
                <a:spcPts val="200"/>
              </a:spcBef>
            </a:pPr>
            <a:r>
              <a:rPr sz="900">
                <a:solidFill>
                  <a:srgbClr val="000000"/>
                </a:solidFill>
                <a:latin typeface="Arial"/>
              </a:rPr>
              <a:t>• 9.  Validation &amp; Inspection</a:t>
            </a:r>
          </a:p>
          <a:p>
            <a:pPr>
              <a:spcBef>
                <a:spcPts val="200"/>
              </a:spcBef>
            </a:pPr>
            <a:r>
              <a:rPr sz="900">
                <a:solidFill>
                  <a:srgbClr val="000000"/>
                </a:solidFill>
                <a:latin typeface="Arial"/>
              </a:rPr>
              <a:t>• 10. Notifications &amp; Async</a:t>
            </a:r>
          </a:p>
          <a:p>
            <a:pPr>
              <a:spcBef>
                <a:spcPts val="200"/>
              </a:spcBef>
            </a:pPr>
            <a:r>
              <a:rPr sz="900">
                <a:solidFill>
                  <a:srgbClr val="000000"/>
                </a:solidFill>
                <a:latin typeface="Arial"/>
              </a:rPr>
              <a:t>• 11. Identity, Auth &amp; Participant Metadata</a:t>
            </a:r>
          </a:p>
          <a:p>
            <a:pPr>
              <a:spcBef>
                <a:spcPts val="200"/>
              </a:spcBef>
            </a:pPr>
            <a:r>
              <a:rPr sz="900">
                <a:solidFill>
                  <a:srgbClr val="000000"/>
                </a:solidFill>
                <a:latin typeface="Arial"/>
              </a:rPr>
              <a:t>• 12. Documents &amp; Invoices</a:t>
            </a:r>
          </a:p>
          <a:p>
            <a:pPr>
              <a:spcBef>
                <a:spcPts val="200"/>
              </a:spcBef>
            </a:pPr>
            <a:r>
              <a:rPr sz="900">
                <a:solidFill>
                  <a:srgbClr val="000000"/>
                </a:solidFill>
                <a:latin typeface="Arial"/>
              </a:rPr>
              <a:t>• 13. Complaints &amp; Support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2880" y="6181344"/>
            <a:ext cx="2423160" cy="292608"/>
          </a:xfrm>
          <a:prstGeom prst="rect">
            <a:avLst/>
          </a:prstGeom>
          <a:solidFill>
            <a:srgbClr val="FFF5E0"/>
          </a:solidFill>
          <a:ln w="9525">
            <a:solidFill>
              <a:srgbClr val="D68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6217920"/>
            <a:ext cx="231343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D68A00"/>
                </a:solidFill>
                <a:latin typeface="Arial"/>
              </a:rPr>
              <a:t>⊕ Mode profiles added per module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0" y="1627632"/>
            <a:ext cx="3200400" cy="486460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816352" y="1664208"/>
            <a:ext cx="307238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1">
                <a:solidFill>
                  <a:srgbClr val="888888"/>
                </a:solidFill>
                <a:latin typeface="Arial"/>
              </a:rPr>
              <a:t>Structure overview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834640" y="1901952"/>
            <a:ext cx="3035808" cy="563009"/>
          </a:xfrm>
          <a:prstGeom prst="rect">
            <a:avLst/>
          </a:prstGeom>
          <a:solidFill>
            <a:srgbClr val="4E3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907792" y="1938528"/>
            <a:ext cx="2926080" cy="5264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Arial"/>
              </a:rPr>
              <a:t>1.  Network &amp; Discovery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834640" y="2483249"/>
            <a:ext cx="3035808" cy="563009"/>
          </a:xfrm>
          <a:prstGeom prst="rect">
            <a:avLst/>
          </a:prstGeom>
          <a:solidFill>
            <a:srgbClr val="C175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907792" y="2519825"/>
            <a:ext cx="2926080" cy="5264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Arial"/>
              </a:rPr>
              <a:t>2.  Journey Planning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834640" y="3064546"/>
            <a:ext cx="3035808" cy="563009"/>
          </a:xfrm>
          <a:prstGeom prst="rect">
            <a:avLst/>
          </a:prstGeom>
          <a:solidFill>
            <a:srgbClr val="FBEE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907792" y="3101122"/>
            <a:ext cx="2926080" cy="5264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E3B30"/>
                </a:solidFill>
                <a:latin typeface="Arial"/>
              </a:rPr>
              <a:t>3.  Pricing &amp; Offers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834640" y="3645843"/>
            <a:ext cx="3035808" cy="563009"/>
          </a:xfrm>
          <a:prstGeom prst="rect">
            <a:avLst/>
          </a:prstGeom>
          <a:solidFill>
            <a:srgbClr val="4E3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907792" y="3682419"/>
            <a:ext cx="2926080" cy="5264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Arial"/>
              </a:rPr>
              <a:t>4.  Booking &amp; Reservation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834640" y="4227140"/>
            <a:ext cx="3035808" cy="563009"/>
          </a:xfrm>
          <a:prstGeom prst="rect">
            <a:avLst/>
          </a:prstGeom>
          <a:solidFill>
            <a:srgbClr val="C175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907792" y="4263716"/>
            <a:ext cx="2926080" cy="5264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Arial"/>
              </a:rPr>
              <a:t>5.  Fulfillment &amp; Ticketing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834640" y="4808437"/>
            <a:ext cx="3035808" cy="563009"/>
          </a:xfrm>
          <a:prstGeom prst="rect">
            <a:avLst/>
          </a:prstGeom>
          <a:solidFill>
            <a:srgbClr val="FBEE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907792" y="4845013"/>
            <a:ext cx="2926080" cy="5264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E3B30"/>
                </a:solidFill>
                <a:latin typeface="Arial"/>
              </a:rPr>
              <a:t>6.  After-Sales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834640" y="5389734"/>
            <a:ext cx="3035808" cy="563009"/>
          </a:xfrm>
          <a:prstGeom prst="rect">
            <a:avLst/>
          </a:prstGeom>
          <a:solidFill>
            <a:srgbClr val="A19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907792" y="5426310"/>
            <a:ext cx="2926080" cy="5264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  <a:latin typeface="Arial"/>
              </a:rPr>
              <a:t>7–13.  Auth · Inspect · …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834640" y="6016752"/>
            <a:ext cx="3035808" cy="402336"/>
          </a:xfrm>
          <a:prstGeom prst="rect">
            <a:avLst/>
          </a:prstGeom>
          <a:solidFill>
            <a:srgbClr val="FFF5E0"/>
          </a:solidFill>
          <a:ln w="9525">
            <a:solidFill>
              <a:srgbClr val="D68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907792" y="6053328"/>
            <a:ext cx="2907792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D68A00"/>
                </a:solidFill>
                <a:latin typeface="Arial"/>
              </a:rPr>
              <a:t>⊕  Mode-Specific Extensions (per module)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080760" y="1627632"/>
            <a:ext cx="2880360" cy="2432304"/>
          </a:xfrm>
          <a:prstGeom prst="rect">
            <a:avLst/>
          </a:prstGeom>
          <a:solidFill>
            <a:srgbClr val="F0FBF0"/>
          </a:solidFill>
          <a:ln w="9525">
            <a:solidFill>
              <a:srgbClr val="CCEE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172200" y="1673352"/>
            <a:ext cx="28803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378644"/>
                </a:solidFill>
                <a:latin typeface="Arial"/>
              </a:rPr>
              <a:t>✓  PROs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72200" y="1938528"/>
            <a:ext cx="2715768" cy="2029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900">
                <a:solidFill>
                  <a:srgbClr val="1A5C1A"/>
                </a:solidFill>
                <a:latin typeface="Arial"/>
              </a:rPr>
              <a:t>+ Maps directly to OSDM's 27 tags and TOMP-API's 11 tags — minimal reinterpretation</a:t>
            </a:r>
          </a:p>
          <a:p>
            <a:pPr>
              <a:spcBef>
                <a:spcPts val="300"/>
              </a:spcBef>
            </a:pPr>
            <a:r>
              <a:rPr sz="900">
                <a:solidFill>
                  <a:srgbClr val="1A5C1A"/>
                </a:solidFill>
                <a:latin typeface="Arial"/>
              </a:rPr>
              <a:t>+ Granular: every operation has exactly one home module</a:t>
            </a:r>
          </a:p>
          <a:p>
            <a:pPr>
              <a:spcBef>
                <a:spcPts val="300"/>
              </a:spcBef>
            </a:pPr>
            <a:r>
              <a:rPr sz="900">
                <a:solidFill>
                  <a:srgbClr val="1A5C1A"/>
                </a:solidFill>
                <a:latin typeface="Arial"/>
              </a:rPr>
              <a:t>+ Standard API documentation practice; familiar to implementors</a:t>
            </a:r>
          </a:p>
          <a:p>
            <a:pPr>
              <a:spcBef>
                <a:spcPts val="300"/>
              </a:spcBef>
            </a:pPr>
            <a:r>
              <a:rPr sz="900">
                <a:solidFill>
                  <a:srgbClr val="1A5C1A"/>
                </a:solidFill>
                <a:latin typeface="Arial"/>
              </a:rPr>
              <a:t>+ Aligns with TOMP-API's x-modules hint in its info block</a:t>
            </a:r>
          </a:p>
          <a:p>
            <a:pPr>
              <a:spcBef>
                <a:spcPts val="300"/>
              </a:spcBef>
            </a:pPr>
            <a:r>
              <a:rPr sz="900">
                <a:solidFill>
                  <a:srgbClr val="1A5C1A"/>
                </a:solidFill>
                <a:latin typeface="Arial"/>
              </a:rPr>
              <a:t>+ New standards can be mapped module-by-module without TS restructuring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080760" y="4133088"/>
            <a:ext cx="2880360" cy="2359152"/>
          </a:xfrm>
          <a:prstGeom prst="rect">
            <a:avLst/>
          </a:prstGeom>
          <a:solidFill>
            <a:srgbClr val="FFF0F0"/>
          </a:solidFill>
          <a:ln w="9525">
            <a:solidFill>
              <a:srgbClr val="EE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172200" y="4178808"/>
            <a:ext cx="28803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0392B"/>
                </a:solidFill>
                <a:latin typeface="Arial"/>
              </a:rPr>
              <a:t>✗  CONs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72200" y="4443984"/>
            <a:ext cx="2715768" cy="1956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900">
                <a:solidFill>
                  <a:srgbClr val="7A1010"/>
                </a:solidFill>
                <a:latin typeface="Arial"/>
              </a:rPr>
              <a:t>− 13 chapters is a large TS structure</a:t>
            </a:r>
          </a:p>
          <a:p>
            <a:pPr>
              <a:spcBef>
                <a:spcPts val="300"/>
              </a:spcBef>
            </a:pPr>
            <a:r>
              <a:rPr sz="900">
                <a:solidFill>
                  <a:srgbClr val="7A1010"/>
                </a:solidFill>
                <a:latin typeface="Arial"/>
              </a:rPr>
              <a:t>− Domains 3–5 (Pricing / Booking / Fulfillment) are tightly coupled; boundary is blurry across all standards</a:t>
            </a:r>
          </a:p>
          <a:p>
            <a:pPr>
              <a:spcBef>
                <a:spcPts val="300"/>
              </a:spcBef>
            </a:pPr>
            <a:r>
              <a:rPr sz="900">
                <a:solidFill>
                  <a:srgbClr val="7A1010"/>
                </a:solidFill>
                <a:latin typeface="Arial"/>
              </a:rPr>
              <a:t>− Doesn't match how transport stakeholders reason (workflows, not functions)</a:t>
            </a:r>
          </a:p>
          <a:p>
            <a:pPr>
              <a:spcBef>
                <a:spcPts val="300"/>
              </a:spcBef>
            </a:pPr>
            <a:r>
              <a:rPr sz="900">
                <a:solidFill>
                  <a:srgbClr val="7A1010"/>
                </a:solidFill>
                <a:latin typeface="Arial"/>
              </a:rPr>
              <a:t>− High forward/back cross-reference density between adjacent chapters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F3CC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0" y="73152"/>
            <a:ext cx="5486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4E3B30"/>
                </a:solidFill>
                <a:latin typeface="Arial"/>
              </a:rPr>
              <a:t>EUDIT — Modularising the Technical Specification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48640"/>
            <a:ext cx="8595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4E3B30"/>
                </a:solidFill>
                <a:latin typeface="Arial"/>
              </a:rPr>
              <a:t>Option B — Travel Lifecycle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1261872"/>
            <a:ext cx="8595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A19574"/>
                </a:solidFill>
                <a:latin typeface="Arial"/>
              </a:rPr>
              <a:t>One module per journey phase · 5 phases + cross-cutting cluster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0" y="73152"/>
            <a:ext cx="1691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4E3B30"/>
                </a:solidFill>
                <a:latin typeface="Arial"/>
              </a:rPr>
              <a:t>Slide 9 / 14</a:t>
            </a:r>
          </a:p>
        </p:txBody>
      </p:sp>
      <p:sp>
        <p:nvSpPr>
          <p:cNvPr id="7" name="Rectangle 6"/>
          <p:cNvSpPr/>
          <p:nvPr/>
        </p:nvSpPr>
        <p:spPr>
          <a:xfrm>
            <a:off x="182880" y="1627632"/>
            <a:ext cx="2423160" cy="4864608"/>
          </a:xfrm>
          <a:prstGeom prst="rect">
            <a:avLst/>
          </a:prstGeom>
          <a:solidFill>
            <a:srgbClr val="F2F2F2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682496"/>
            <a:ext cx="22585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4E3B30"/>
                </a:solidFill>
                <a:latin typeface="Arial"/>
              </a:rPr>
              <a:t>Proposed modules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1975104"/>
            <a:ext cx="2258568" cy="44256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</a:pPr>
            <a:r>
              <a:rPr sz="900">
                <a:solidFill>
                  <a:srgbClr val="000000"/>
                </a:solidFill>
                <a:latin typeface="Arial"/>
              </a:rPr>
              <a:t>• 1.  Pre-Trip</a:t>
            </a:r>
          </a:p>
          <a:p>
            <a:pPr>
              <a:spcBef>
                <a:spcPts val="200"/>
              </a:spcBef>
            </a:pPr>
            <a:r>
              <a:rPr sz="900">
                <a:solidFill>
                  <a:srgbClr val="000000"/>
                </a:solidFill>
                <a:latin typeface="Arial"/>
              </a:rPr>
              <a:t>•      Discovery · Journey Search · Pricing · Offers</a:t>
            </a:r>
          </a:p>
          <a:p>
            <a:pPr>
              <a:spcBef>
                <a:spcPts val="200"/>
              </a:spcBef>
            </a:pPr>
            <a:r>
              <a:rPr sz="900">
                <a:solidFill>
                  <a:srgbClr val="000000"/>
                </a:solidFill>
                <a:latin typeface="Arial"/>
              </a:rPr>
              <a:t>• 2.  Purchase</a:t>
            </a:r>
          </a:p>
          <a:p>
            <a:pPr>
              <a:spcBef>
                <a:spcPts val="200"/>
              </a:spcBef>
            </a:pPr>
            <a:r>
              <a:rPr sz="900">
                <a:solidFill>
                  <a:srgbClr val="000000"/>
                </a:solidFill>
                <a:latin typeface="Arial"/>
              </a:rPr>
              <a:t>•      Booking · Reservation · Payment</a:t>
            </a:r>
          </a:p>
          <a:p>
            <a:pPr>
              <a:spcBef>
                <a:spcPts val="200"/>
              </a:spcBef>
            </a:pPr>
            <a:r>
              <a:rPr sz="900">
                <a:solidFill>
                  <a:srgbClr val="000000"/>
                </a:solidFill>
                <a:latin typeface="Arial"/>
              </a:rPr>
              <a:t>• 3.  Pre-Departure</a:t>
            </a:r>
          </a:p>
          <a:p>
            <a:pPr>
              <a:spcBef>
                <a:spcPts val="200"/>
              </a:spcBef>
            </a:pPr>
            <a:r>
              <a:rPr sz="900">
                <a:solidFill>
                  <a:srgbClr val="000000"/>
                </a:solidFill>
                <a:latin typeface="Arial"/>
              </a:rPr>
              <a:t>•      Fulfillment · Documents · Traveller Mgmt</a:t>
            </a:r>
          </a:p>
          <a:p>
            <a:pPr>
              <a:spcBef>
                <a:spcPts val="200"/>
              </a:spcBef>
            </a:pPr>
            <a:r>
              <a:rPr sz="900">
                <a:solidFill>
                  <a:srgbClr val="000000"/>
                </a:solidFill>
                <a:latin typeface="Arial"/>
              </a:rPr>
              <a:t>• 4.  In-Journey</a:t>
            </a:r>
          </a:p>
          <a:p>
            <a:pPr>
              <a:spcBef>
                <a:spcPts val="200"/>
              </a:spcBef>
            </a:pPr>
            <a:r>
              <a:rPr sz="900">
                <a:solidFill>
                  <a:srgbClr val="000000"/>
                </a:solidFill>
                <a:latin typeface="Arial"/>
              </a:rPr>
              <a:t>•      Validation · Inspection · Asset Ops</a:t>
            </a:r>
          </a:p>
          <a:p>
            <a:pPr>
              <a:spcBef>
                <a:spcPts val="200"/>
              </a:spcBef>
            </a:pPr>
            <a:r>
              <a:rPr sz="900">
                <a:solidFill>
                  <a:srgbClr val="000000"/>
                </a:solidFill>
                <a:latin typeface="Arial"/>
              </a:rPr>
              <a:t>• 5.  Post-Trip</a:t>
            </a:r>
          </a:p>
          <a:p>
            <a:pPr>
              <a:spcBef>
                <a:spcPts val="200"/>
              </a:spcBef>
            </a:pPr>
            <a:r>
              <a:rPr sz="900">
                <a:solidFill>
                  <a:srgbClr val="000000"/>
                </a:solidFill>
                <a:latin typeface="Arial"/>
              </a:rPr>
              <a:t>•      After-Sales · Invoices · Complaints</a:t>
            </a:r>
          </a:p>
          <a:p>
            <a:pPr>
              <a:spcBef>
                <a:spcPts val="200"/>
              </a:spcBef>
            </a:pPr>
            <a:r>
              <a:rPr sz="900">
                <a:solidFill>
                  <a:srgbClr val="000000"/>
                </a:solidFill>
                <a:latin typeface="Arial"/>
              </a:rPr>
              <a:t>• —   Cross-cutting</a:t>
            </a:r>
          </a:p>
          <a:p>
            <a:pPr>
              <a:spcBef>
                <a:spcPts val="200"/>
              </a:spcBef>
            </a:pPr>
            <a:r>
              <a:rPr sz="900">
                <a:solidFill>
                  <a:srgbClr val="000000"/>
                </a:solidFill>
                <a:latin typeface="Arial"/>
              </a:rPr>
              <a:t>•      Auth · Notifications · Metadata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2880" y="6181344"/>
            <a:ext cx="2423160" cy="292608"/>
          </a:xfrm>
          <a:prstGeom prst="rect">
            <a:avLst/>
          </a:prstGeom>
          <a:solidFill>
            <a:srgbClr val="FFF5E0"/>
          </a:solidFill>
          <a:ln w="9525">
            <a:solidFill>
              <a:srgbClr val="D68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6217920"/>
            <a:ext cx="231343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D68A00"/>
                </a:solidFill>
                <a:latin typeface="Arial"/>
              </a:rPr>
              <a:t>⊕ Mode profiles added per module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0" y="1627632"/>
            <a:ext cx="3200400" cy="486460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816352" y="1664208"/>
            <a:ext cx="307238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1">
                <a:solidFill>
                  <a:srgbClr val="888888"/>
                </a:solidFill>
                <a:latin typeface="Arial"/>
              </a:rPr>
              <a:t>Structure overview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834640" y="1901952"/>
            <a:ext cx="519379" cy="2286000"/>
          </a:xfrm>
          <a:prstGeom prst="rect">
            <a:avLst/>
          </a:prstGeom>
          <a:solidFill>
            <a:srgbClr val="4E3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871216" y="1993392"/>
            <a:ext cx="464515" cy="21214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Pre-
Trip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54019" y="2724912"/>
            <a:ext cx="10972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4E3B30"/>
                </a:solidFill>
                <a:latin typeface="Arial"/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63747" y="1901952"/>
            <a:ext cx="519379" cy="2286000"/>
          </a:xfrm>
          <a:prstGeom prst="rect">
            <a:avLst/>
          </a:prstGeom>
          <a:solidFill>
            <a:srgbClr val="C175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00323" y="1993392"/>
            <a:ext cx="464515" cy="21214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Pur-
chase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83126" y="2724912"/>
            <a:ext cx="10972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4E3B30"/>
                </a:solidFill>
                <a:latin typeface="Arial"/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092854" y="1901952"/>
            <a:ext cx="519379" cy="2286000"/>
          </a:xfrm>
          <a:prstGeom prst="rect">
            <a:avLst/>
          </a:prstGeom>
          <a:solidFill>
            <a:srgbClr val="4E3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29430" y="1993392"/>
            <a:ext cx="464515" cy="21214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Pre-
Dep.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12233" y="2724912"/>
            <a:ext cx="10972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4E3B30"/>
                </a:solidFill>
                <a:latin typeface="Arial"/>
              </a:rP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721961" y="1901952"/>
            <a:ext cx="519379" cy="2286000"/>
          </a:xfrm>
          <a:prstGeom prst="rect">
            <a:avLst/>
          </a:prstGeom>
          <a:solidFill>
            <a:srgbClr val="C175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758537" y="1993392"/>
            <a:ext cx="464515" cy="21214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In-
Jrny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41340" y="2724912"/>
            <a:ext cx="10972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4E3B30"/>
                </a:solidFill>
                <a:latin typeface="Arial"/>
              </a:rP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351068" y="1901952"/>
            <a:ext cx="519379" cy="2286000"/>
          </a:xfrm>
          <a:prstGeom prst="rect">
            <a:avLst/>
          </a:prstGeom>
          <a:solidFill>
            <a:srgbClr val="4E3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387644" y="1993392"/>
            <a:ext cx="464515" cy="21214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Post-
Trip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834640" y="4261104"/>
            <a:ext cx="3035808" cy="530352"/>
          </a:xfrm>
          <a:prstGeom prst="rect">
            <a:avLst/>
          </a:prstGeom>
          <a:solidFill>
            <a:srgbClr val="FBEEC9"/>
          </a:solidFill>
          <a:ln w="9525">
            <a:solidFill>
              <a:srgbClr val="C175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907792" y="4352544"/>
            <a:ext cx="29077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4E3B30"/>
                </a:solidFill>
                <a:latin typeface="Arial"/>
              </a:rPr>
              <a:t>Cross-cutting:  Auth  ·  Notifications  ·  Metadata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834640" y="4864608"/>
            <a:ext cx="3035808" cy="402336"/>
          </a:xfrm>
          <a:prstGeom prst="rect">
            <a:avLst/>
          </a:prstGeom>
          <a:solidFill>
            <a:srgbClr val="FFF5E0"/>
          </a:solidFill>
          <a:ln w="9525">
            <a:solidFill>
              <a:srgbClr val="D68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907792" y="4901184"/>
            <a:ext cx="2907792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D68A00"/>
                </a:solidFill>
                <a:latin typeface="Arial"/>
              </a:rPr>
              <a:t>⊕  Mode-Specific Extensions (per phase)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080760" y="1627632"/>
            <a:ext cx="2880360" cy="2432304"/>
          </a:xfrm>
          <a:prstGeom prst="rect">
            <a:avLst/>
          </a:prstGeom>
          <a:solidFill>
            <a:srgbClr val="F0FBF0"/>
          </a:solidFill>
          <a:ln w="9525">
            <a:solidFill>
              <a:srgbClr val="CCEE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172200" y="1673352"/>
            <a:ext cx="28803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378644"/>
                </a:solidFill>
                <a:latin typeface="Arial"/>
              </a:rPr>
              <a:t>✓  PROs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72200" y="1938528"/>
            <a:ext cx="2715768" cy="2029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900">
                <a:solidFill>
                  <a:srgbClr val="1A5C1A"/>
                </a:solidFill>
                <a:latin typeface="Arial"/>
              </a:rPr>
              <a:t>+ Natural narrative; accessible to non-technical CEN working-group members</a:t>
            </a:r>
          </a:p>
          <a:p>
            <a:pPr>
              <a:spcBef>
                <a:spcPts val="300"/>
              </a:spcBef>
            </a:pPr>
            <a:r>
              <a:rPr sz="900">
                <a:solidFill>
                  <a:srgbClr val="1A5C1A"/>
                </a:solidFill>
                <a:latin typeface="Arial"/>
              </a:rPr>
              <a:t>+ Directly aligned with the 7 CoRoM use cases in wiki/use-cases/</a:t>
            </a:r>
          </a:p>
          <a:p>
            <a:pPr>
              <a:spcBef>
                <a:spcPts val="300"/>
              </a:spcBef>
            </a:pPr>
            <a:r>
              <a:rPr sz="900">
                <a:solidFill>
                  <a:srgbClr val="1A5C1A"/>
                </a:solidFill>
                <a:latin typeface="Arial"/>
              </a:rPr>
              <a:t>+ Only 6 top-level chapters — most cohesive structure</a:t>
            </a:r>
          </a:p>
          <a:p>
            <a:pPr>
              <a:spcBef>
                <a:spcPts val="300"/>
              </a:spcBef>
            </a:pPr>
            <a:r>
              <a:rPr sz="900">
                <a:solidFill>
                  <a:srgbClr val="1A5C1A"/>
                </a:solidFill>
                <a:latin typeface="Arial"/>
              </a:rPr>
              <a:t>+ In-Journey cleanly isolates BoB validation/inspection domain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080760" y="4133088"/>
            <a:ext cx="2880360" cy="2359152"/>
          </a:xfrm>
          <a:prstGeom prst="rect">
            <a:avLst/>
          </a:prstGeom>
          <a:solidFill>
            <a:srgbClr val="FFF0F0"/>
          </a:solidFill>
          <a:ln w="9525">
            <a:solidFill>
              <a:srgbClr val="EE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172200" y="4178808"/>
            <a:ext cx="28803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0392B"/>
                </a:solidFill>
                <a:latin typeface="Arial"/>
              </a:rPr>
              <a:t>✗  CONs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172200" y="4443984"/>
            <a:ext cx="2715768" cy="1956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900">
                <a:solidFill>
                  <a:srgbClr val="7A1010"/>
                </a:solidFill>
                <a:latin typeface="Arial"/>
              </a:rPr>
              <a:t>− Several operations are ambiguous in phase (on-hold offers, release offers)</a:t>
            </a:r>
          </a:p>
          <a:p>
            <a:pPr>
              <a:spcBef>
                <a:spcPts val="300"/>
              </a:spcBef>
            </a:pPr>
            <a:r>
              <a:rPr sz="900">
                <a:solidFill>
                  <a:srgbClr val="7A1010"/>
                </a:solidFill>
                <a:latin typeface="Arial"/>
              </a:rPr>
              <a:t>− In-Journey chapter is near-empty for most standards except BoB</a:t>
            </a:r>
          </a:p>
          <a:p>
            <a:pPr>
              <a:spcBef>
                <a:spcPts val="300"/>
              </a:spcBef>
            </a:pPr>
            <a:r>
              <a:rPr sz="900">
                <a:solidFill>
                  <a:srgbClr val="7A1010"/>
                </a:solidFill>
                <a:latin typeface="Arial"/>
              </a:rPr>
              <a:t>− FerryGateway bundles multiple phases per message pair — hard to place</a:t>
            </a:r>
          </a:p>
          <a:p>
            <a:pPr>
              <a:spcBef>
                <a:spcPts val="300"/>
              </a:spcBef>
            </a:pPr>
            <a:r>
              <a:rPr sz="900">
                <a:solidFill>
                  <a:srgbClr val="7A1010"/>
                </a:solidFill>
                <a:latin typeface="Arial"/>
              </a:rPr>
              <a:t>− Cross-cutting pseudo-module breaks the linear narrative structure</a:t>
            </a:r>
          </a:p>
          <a:p>
            <a:pPr>
              <a:spcBef>
                <a:spcPts val="300"/>
              </a:spcBef>
            </a:pPr>
            <a:r>
              <a:rPr sz="900">
                <a:solidFill>
                  <a:srgbClr val="7A1010"/>
                </a:solidFill>
                <a:latin typeface="Arial"/>
              </a:rPr>
              <a:t>− Lifecycle boundaries may shift as use cases mature → TS restructuring risk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F3CC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0" y="73152"/>
            <a:ext cx="5486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4E3B30"/>
                </a:solidFill>
                <a:latin typeface="Arial"/>
              </a:rPr>
              <a:t>EUDIT — Modularising the Technical Specification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48640"/>
            <a:ext cx="8595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4E3B30"/>
                </a:solidFill>
                <a:latin typeface="Arial"/>
              </a:rPr>
              <a:t>Option C — Actor / Role-Based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1261872"/>
            <a:ext cx="8595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A19574"/>
                </a:solidFill>
                <a:latin typeface="Arial"/>
              </a:rPr>
              <a:t>One module per stakeholder role · aligned with wiki/roles.md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0" y="73152"/>
            <a:ext cx="1691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4E3B30"/>
                </a:solidFill>
                <a:latin typeface="Arial"/>
              </a:rPr>
              <a:t>Slide 10 / 14</a:t>
            </a:r>
          </a:p>
        </p:txBody>
      </p:sp>
      <p:sp>
        <p:nvSpPr>
          <p:cNvPr id="7" name="Rectangle 6"/>
          <p:cNvSpPr/>
          <p:nvPr/>
        </p:nvSpPr>
        <p:spPr>
          <a:xfrm>
            <a:off x="182880" y="1627632"/>
            <a:ext cx="2423160" cy="4864608"/>
          </a:xfrm>
          <a:prstGeom prst="rect">
            <a:avLst/>
          </a:prstGeom>
          <a:solidFill>
            <a:srgbClr val="F2F2F2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682496"/>
            <a:ext cx="22585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4E3B30"/>
                </a:solidFill>
                <a:latin typeface="Arial"/>
              </a:rPr>
              <a:t>Proposed modules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1975104"/>
            <a:ext cx="2258568" cy="44256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</a:pPr>
            <a:r>
              <a:rPr sz="900">
                <a:solidFill>
                  <a:srgbClr val="000000"/>
                </a:solidFill>
                <a:latin typeface="Arial"/>
              </a:rPr>
              <a:t>• 1.  TRANSPORT CUSTOMER</a:t>
            </a:r>
          </a:p>
          <a:p>
            <a:pPr>
              <a:spcBef>
                <a:spcPts val="200"/>
              </a:spcBef>
            </a:pPr>
            <a:r>
              <a:rPr sz="900">
                <a:solidFill>
                  <a:srgbClr val="000000"/>
                </a:solidFill>
                <a:latin typeface="Arial"/>
              </a:rPr>
              <a:t>•      Search · Book · Manage trip · After-sales</a:t>
            </a:r>
          </a:p>
          <a:p>
            <a:pPr>
              <a:spcBef>
                <a:spcPts val="200"/>
              </a:spcBef>
            </a:pPr>
            <a:r>
              <a:rPr sz="900">
                <a:solidFill>
                  <a:srgbClr val="000000"/>
                </a:solidFill>
                <a:latin typeface="Arial"/>
              </a:rPr>
              <a:t>• 2.  TRANSPORT OPERATOR</a:t>
            </a:r>
          </a:p>
          <a:p>
            <a:pPr>
              <a:spcBef>
                <a:spcPts val="200"/>
              </a:spcBef>
            </a:pPr>
            <a:r>
              <a:rPr sz="900">
                <a:solidFill>
                  <a:srgbClr val="000000"/>
                </a:solidFill>
                <a:latin typeface="Arial"/>
              </a:rPr>
              <a:t>•      Offer · Fulfil · Validate · Notify</a:t>
            </a:r>
          </a:p>
          <a:p>
            <a:pPr>
              <a:spcBef>
                <a:spcPts val="200"/>
              </a:spcBef>
            </a:pPr>
            <a:r>
              <a:rPr sz="900">
                <a:solidFill>
                  <a:srgbClr val="000000"/>
                </a:solidFill>
                <a:latin typeface="Arial"/>
              </a:rPr>
              <a:t>• 3.  DISTRIBUTOR / MaaS Provider</a:t>
            </a:r>
          </a:p>
          <a:p>
            <a:pPr>
              <a:spcBef>
                <a:spcPts val="200"/>
              </a:spcBef>
            </a:pPr>
            <a:r>
              <a:rPr sz="900">
                <a:solidFill>
                  <a:srgbClr val="000000"/>
                </a:solidFill>
                <a:latin typeface="Arial"/>
              </a:rPr>
              <a:t>•      Aggregate · Compose · Handle notifications</a:t>
            </a:r>
          </a:p>
          <a:p>
            <a:pPr>
              <a:spcBef>
                <a:spcPts val="200"/>
              </a:spcBef>
            </a:pPr>
            <a:r>
              <a:rPr sz="900">
                <a:solidFill>
                  <a:srgbClr val="000000"/>
                </a:solidFill>
                <a:latin typeface="Arial"/>
              </a:rPr>
              <a:t>• 4.  INSPECTOR</a:t>
            </a:r>
          </a:p>
          <a:p>
            <a:pPr>
              <a:spcBef>
                <a:spcPts val="200"/>
              </a:spcBef>
            </a:pPr>
            <a:r>
              <a:rPr sz="900">
                <a:solidFill>
                  <a:srgbClr val="000000"/>
                </a:solidFill>
                <a:latin typeface="Arial"/>
              </a:rPr>
              <a:t>•      Validate &amp; inspect physical tokens</a:t>
            </a:r>
          </a:p>
          <a:p>
            <a:pPr>
              <a:spcBef>
                <a:spcPts val="200"/>
              </a:spcBef>
            </a:pPr>
            <a:r>
              <a:rPr sz="900">
                <a:solidFill>
                  <a:srgbClr val="000000"/>
                </a:solidFill>
                <a:latin typeface="Arial"/>
              </a:rPr>
              <a:t>• 5.  System-to-System</a:t>
            </a:r>
          </a:p>
          <a:p>
            <a:pPr>
              <a:spcBef>
                <a:spcPts val="200"/>
              </a:spcBef>
            </a:pPr>
            <a:r>
              <a:rPr sz="900">
                <a:solidFill>
                  <a:srgbClr val="000000"/>
                </a:solidFill>
                <a:latin typeface="Arial"/>
              </a:rPr>
              <a:t>•      Metadata · Health · Auth · Participant registry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2880" y="6181344"/>
            <a:ext cx="2423160" cy="292608"/>
          </a:xfrm>
          <a:prstGeom prst="rect">
            <a:avLst/>
          </a:prstGeom>
          <a:solidFill>
            <a:srgbClr val="FFF5E0"/>
          </a:solidFill>
          <a:ln w="9525">
            <a:solidFill>
              <a:srgbClr val="D68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6217920"/>
            <a:ext cx="231343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D68A00"/>
                </a:solidFill>
                <a:latin typeface="Arial"/>
              </a:rPr>
              <a:t>⊕ Mode profiles added per module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0" y="1627632"/>
            <a:ext cx="3200400" cy="486460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816352" y="1664208"/>
            <a:ext cx="307238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1">
                <a:solidFill>
                  <a:srgbClr val="888888"/>
                </a:solidFill>
                <a:latin typeface="Arial"/>
              </a:rPr>
              <a:t>Structure overview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834640" y="1901952"/>
            <a:ext cx="960120" cy="795528"/>
          </a:xfrm>
          <a:prstGeom prst="rect">
            <a:avLst/>
          </a:prstGeom>
          <a:solidFill>
            <a:srgbClr val="4E3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871216" y="1938528"/>
            <a:ext cx="905256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FFFFFF"/>
                </a:solidFill>
                <a:latin typeface="Arial"/>
              </a:rPr>
              <a:t>CUSTOMER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849624" y="1901952"/>
            <a:ext cx="2020824" cy="795528"/>
          </a:xfrm>
          <a:prstGeom prst="rect">
            <a:avLst/>
          </a:prstGeom>
          <a:solidFill>
            <a:srgbClr val="F2F2F2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886200" y="1956816"/>
            <a:ext cx="1911096" cy="704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000000"/>
                </a:solidFill>
                <a:latin typeface="Arial"/>
              </a:rPr>
              <a:t>Search · Book · Manage · After-sales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834640" y="2715768"/>
            <a:ext cx="960120" cy="795528"/>
          </a:xfrm>
          <a:prstGeom prst="rect">
            <a:avLst/>
          </a:prstGeom>
          <a:solidFill>
            <a:srgbClr val="C175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871216" y="2752344"/>
            <a:ext cx="905256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FFFFFF"/>
                </a:solidFill>
                <a:latin typeface="Arial"/>
              </a:rPr>
              <a:t>OPERATOR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849624" y="2715768"/>
            <a:ext cx="2020824" cy="795528"/>
          </a:xfrm>
          <a:prstGeom prst="rect">
            <a:avLst/>
          </a:prstGeom>
          <a:solidFill>
            <a:srgbClr val="F2F2F2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886200" y="2770632"/>
            <a:ext cx="1911096" cy="704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000000"/>
                </a:solidFill>
                <a:latin typeface="Arial"/>
              </a:rPr>
              <a:t>Offer · Fulfil · Validate · Notify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834640" y="3529584"/>
            <a:ext cx="960120" cy="795528"/>
          </a:xfrm>
          <a:prstGeom prst="rect">
            <a:avLst/>
          </a:prstGeom>
          <a:solidFill>
            <a:srgbClr val="4E3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871216" y="3566160"/>
            <a:ext cx="905256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FFFFFF"/>
                </a:solidFill>
                <a:latin typeface="Arial"/>
              </a:rPr>
              <a:t>DISTRIBUTOR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849624" y="3529584"/>
            <a:ext cx="2020824" cy="795528"/>
          </a:xfrm>
          <a:prstGeom prst="rect">
            <a:avLst/>
          </a:prstGeom>
          <a:solidFill>
            <a:srgbClr val="F2F2F2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886200" y="3584448"/>
            <a:ext cx="1911096" cy="704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000000"/>
                </a:solidFill>
                <a:latin typeface="Arial"/>
              </a:rPr>
              <a:t>Aggregate · Compose · Notifications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834640" y="4343400"/>
            <a:ext cx="960120" cy="795528"/>
          </a:xfrm>
          <a:prstGeom prst="rect">
            <a:avLst/>
          </a:prstGeom>
          <a:solidFill>
            <a:srgbClr val="C175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871216" y="4379976"/>
            <a:ext cx="905256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FFFFFF"/>
                </a:solidFill>
                <a:latin typeface="Arial"/>
              </a:rPr>
              <a:t>INSPECTOR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849624" y="4343400"/>
            <a:ext cx="2020824" cy="795528"/>
          </a:xfrm>
          <a:prstGeom prst="rect">
            <a:avLst/>
          </a:prstGeom>
          <a:solidFill>
            <a:srgbClr val="F2F2F2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886200" y="4398264"/>
            <a:ext cx="1911096" cy="704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000000"/>
                </a:solidFill>
                <a:latin typeface="Arial"/>
              </a:rPr>
              <a:t>Validate &amp; Inspect tokens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834640" y="5157216"/>
            <a:ext cx="960120" cy="795528"/>
          </a:xfrm>
          <a:prstGeom prst="rect">
            <a:avLst/>
          </a:prstGeom>
          <a:solidFill>
            <a:srgbClr val="4E3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871216" y="5193792"/>
            <a:ext cx="905256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FFFFFF"/>
                </a:solidFill>
                <a:latin typeface="Arial"/>
              </a:rPr>
              <a:t>SYSTEM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849624" y="5157216"/>
            <a:ext cx="2020824" cy="795528"/>
          </a:xfrm>
          <a:prstGeom prst="rect">
            <a:avLst/>
          </a:prstGeom>
          <a:solidFill>
            <a:srgbClr val="F2F2F2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886200" y="5212080"/>
            <a:ext cx="1911096" cy="704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000000"/>
                </a:solidFill>
                <a:latin typeface="Arial"/>
              </a:rPr>
              <a:t>Auth · Metadata · Participant registry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834640" y="6016752"/>
            <a:ext cx="3035808" cy="402336"/>
          </a:xfrm>
          <a:prstGeom prst="rect">
            <a:avLst/>
          </a:prstGeom>
          <a:solidFill>
            <a:srgbClr val="FFF5E0"/>
          </a:solidFill>
          <a:ln w="9525">
            <a:solidFill>
              <a:srgbClr val="D68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907792" y="6053328"/>
            <a:ext cx="2907792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D68A00"/>
                </a:solidFill>
                <a:latin typeface="Arial"/>
              </a:rPr>
              <a:t>⊕  Mode-Specific Extensions (per role module)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080760" y="1627632"/>
            <a:ext cx="2880360" cy="2432304"/>
          </a:xfrm>
          <a:prstGeom prst="rect">
            <a:avLst/>
          </a:prstGeom>
          <a:solidFill>
            <a:srgbClr val="F0FBF0"/>
          </a:solidFill>
          <a:ln w="9525">
            <a:solidFill>
              <a:srgbClr val="CCEE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172200" y="1673352"/>
            <a:ext cx="28803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378644"/>
                </a:solidFill>
                <a:latin typeface="Arial"/>
              </a:rPr>
              <a:t>✓  PROs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172200" y="1938528"/>
            <a:ext cx="2715768" cy="2029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900">
                <a:solidFill>
                  <a:srgbClr val="1A5C1A"/>
                </a:solidFill>
                <a:latin typeface="Arial"/>
              </a:rPr>
              <a:t>+ Aligned with Transmodel role definitions and wiki/roles.md</a:t>
            </a:r>
          </a:p>
          <a:p>
            <a:pPr>
              <a:spcBef>
                <a:spcPts val="300"/>
              </a:spcBef>
            </a:pPr>
            <a:r>
              <a:rPr sz="900">
                <a:solidFill>
                  <a:srgbClr val="1A5C1A"/>
                </a:solidFill>
                <a:latin typeface="Arial"/>
              </a:rPr>
              <a:t>+ Clear ownership: each chapter = one actor's API contract</a:t>
            </a:r>
          </a:p>
          <a:p>
            <a:pPr>
              <a:spcBef>
                <a:spcPts val="300"/>
              </a:spcBef>
            </a:pPr>
            <a:r>
              <a:rPr sz="900">
                <a:solidFill>
                  <a:srgbClr val="1A5C1A"/>
                </a:solidFill>
                <a:latin typeface="Arial"/>
              </a:rPr>
              <a:t>+ Enables clean conformance claims ('implements CUSTOMER module')</a:t>
            </a:r>
          </a:p>
          <a:p>
            <a:pPr>
              <a:spcBef>
                <a:spcPts val="300"/>
              </a:spcBef>
            </a:pPr>
            <a:r>
              <a:rPr sz="900">
                <a:solidFill>
                  <a:srgbClr val="1A5C1A"/>
                </a:solidFill>
                <a:latin typeface="Arial"/>
              </a:rPr>
              <a:t>+ BoB ParticipantMetadata tags already map to participant roles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080760" y="4133088"/>
            <a:ext cx="2880360" cy="2359152"/>
          </a:xfrm>
          <a:prstGeom prst="rect">
            <a:avLst/>
          </a:prstGeom>
          <a:solidFill>
            <a:srgbClr val="FFF0F0"/>
          </a:solidFill>
          <a:ln w="9525">
            <a:solidFill>
              <a:srgbClr val="EE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172200" y="4178808"/>
            <a:ext cx="28803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0392B"/>
                </a:solidFill>
                <a:latin typeface="Arial"/>
              </a:rPr>
              <a:t>✗  CONs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172200" y="4443984"/>
            <a:ext cx="2715768" cy="1956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900">
                <a:solidFill>
                  <a:srgbClr val="7A1010"/>
                </a:solidFill>
                <a:latin typeface="Arial"/>
              </a:rPr>
              <a:t>− Same operation serves multiple roles (e.g. GET /bookings/{id} is used by both CUSTOMER and DISTRIBUTOR)</a:t>
            </a:r>
          </a:p>
          <a:p>
            <a:pPr>
              <a:spcBef>
                <a:spcPts val="300"/>
              </a:spcBef>
            </a:pPr>
            <a:r>
              <a:rPr sz="900">
                <a:solidFill>
                  <a:srgbClr val="7A1010"/>
                </a:solidFill>
                <a:latin typeface="Arial"/>
              </a:rPr>
              <a:t>− OSDM, TOMP-API, OMSA present a single unified API; role is OAuth scope, not endpoint separation</a:t>
            </a:r>
          </a:p>
          <a:p>
            <a:pPr>
              <a:spcBef>
                <a:spcPts val="300"/>
              </a:spcBef>
            </a:pPr>
            <a:r>
              <a:rPr sz="900">
                <a:solidFill>
                  <a:srgbClr val="7A1010"/>
                </a:solidFill>
                <a:latin typeface="Arial"/>
              </a:rPr>
              <a:t>− BoB and FerryGateway have no explicit role model — assignment is editorial</a:t>
            </a:r>
          </a:p>
          <a:p>
            <a:pPr>
              <a:spcBef>
                <a:spcPts val="300"/>
              </a:spcBef>
            </a:pPr>
            <a:r>
              <a:rPr sz="900">
                <a:solidFill>
                  <a:srgbClr val="7A1010"/>
                </a:solidFill>
                <a:latin typeface="Arial"/>
              </a:rPr>
              <a:t>− Role definitions in wiki/roles.md may still evolve → TS revision risk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F3CC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0" y="73152"/>
            <a:ext cx="5486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4E3B30"/>
                </a:solidFill>
                <a:latin typeface="Arial"/>
              </a:rPr>
              <a:t>EUDIT — Modularising the Technical Specification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48640"/>
            <a:ext cx="8595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4E3B30"/>
                </a:solidFill>
                <a:latin typeface="Arial"/>
              </a:rPr>
              <a:t>Option D — Transmodel Entity-Centric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1261872"/>
            <a:ext cx="8595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A19574"/>
                </a:solidFill>
                <a:latin typeface="Arial"/>
              </a:rPr>
              <a:t>One module per Transmodel entity family · maximum Transmodel alignment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0" y="73152"/>
            <a:ext cx="1691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4E3B30"/>
                </a:solidFill>
                <a:latin typeface="Arial"/>
              </a:rPr>
              <a:t>Slide 11 / 14</a:t>
            </a:r>
          </a:p>
        </p:txBody>
      </p:sp>
      <p:sp>
        <p:nvSpPr>
          <p:cNvPr id="7" name="Rectangle 6"/>
          <p:cNvSpPr/>
          <p:nvPr/>
        </p:nvSpPr>
        <p:spPr>
          <a:xfrm>
            <a:off x="182880" y="1627632"/>
            <a:ext cx="2423160" cy="4864608"/>
          </a:xfrm>
          <a:prstGeom prst="rect">
            <a:avLst/>
          </a:prstGeom>
          <a:solidFill>
            <a:srgbClr val="F2F2F2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682496"/>
            <a:ext cx="22585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4E3B30"/>
                </a:solidFill>
                <a:latin typeface="Arial"/>
              </a:rPr>
              <a:t>Proposed modules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1975104"/>
            <a:ext cx="2258568" cy="44256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</a:pPr>
            <a:r>
              <a:rPr sz="900">
                <a:solidFill>
                  <a:srgbClr val="000000"/>
                </a:solidFill>
                <a:latin typeface="Arial"/>
              </a:rPr>
              <a:t>• 1.  PLACE &amp; NETWORK</a:t>
            </a:r>
          </a:p>
          <a:p>
            <a:pPr>
              <a:spcBef>
                <a:spcPts val="200"/>
              </a:spcBef>
            </a:pPr>
            <a:r>
              <a:rPr sz="900">
                <a:solidFill>
                  <a:srgbClr val="000000"/>
                </a:solidFill>
                <a:latin typeface="Arial"/>
              </a:rPr>
              <a:t>• 2.  SERVICE JOURNEY &amp; TRIP</a:t>
            </a:r>
          </a:p>
          <a:p>
            <a:pPr>
              <a:spcBef>
                <a:spcPts val="200"/>
              </a:spcBef>
            </a:pPr>
            <a:r>
              <a:rPr sz="900">
                <a:solidFill>
                  <a:srgbClr val="000000"/>
                </a:solidFill>
                <a:latin typeface="Arial"/>
              </a:rPr>
              <a:t>• 3.  FARE PRODUCT &amp; SALES OFFER PACKAGE</a:t>
            </a:r>
          </a:p>
          <a:p>
            <a:pPr>
              <a:spcBef>
                <a:spcPts val="200"/>
              </a:spcBef>
            </a:pPr>
            <a:r>
              <a:rPr sz="900">
                <a:solidFill>
                  <a:srgbClr val="000000"/>
                </a:solidFill>
                <a:latin typeface="Arial"/>
              </a:rPr>
              <a:t>• 4.  BOOKING &amp; RESERVED PLACE</a:t>
            </a:r>
          </a:p>
          <a:p>
            <a:pPr>
              <a:spcBef>
                <a:spcPts val="200"/>
              </a:spcBef>
            </a:pPr>
            <a:r>
              <a:rPr sz="900">
                <a:solidFill>
                  <a:srgbClr val="000000"/>
                </a:solidFill>
                <a:latin typeface="Arial"/>
              </a:rPr>
              <a:t>• 5.  TRAVEL DOCUMENT &amp; FULFILMENT METHOD</a:t>
            </a:r>
          </a:p>
          <a:p>
            <a:pPr>
              <a:spcBef>
                <a:spcPts val="200"/>
              </a:spcBef>
            </a:pPr>
            <a:r>
              <a:rPr sz="900">
                <a:solidFill>
                  <a:srgbClr val="000000"/>
                </a:solidFill>
                <a:latin typeface="Arial"/>
              </a:rPr>
              <a:t>• 6.  TRANSPORT CUSTOMER &amp; TRAVEL ACCOUNT</a:t>
            </a:r>
          </a:p>
          <a:p>
            <a:pPr>
              <a:spcBef>
                <a:spcPts val="200"/>
              </a:spcBef>
            </a:pPr>
            <a:r>
              <a:rPr sz="900">
                <a:solidFill>
                  <a:srgbClr val="000000"/>
                </a:solidFill>
                <a:latin typeface="Arial"/>
              </a:rPr>
              <a:t>• 7.  ASSET / VEHICLE</a:t>
            </a:r>
          </a:p>
          <a:p>
            <a:pPr>
              <a:spcBef>
                <a:spcPts val="200"/>
              </a:spcBef>
            </a:pPr>
            <a:r>
              <a:rPr sz="900">
                <a:solidFill>
                  <a:srgbClr val="000000"/>
                </a:solidFill>
                <a:latin typeface="Arial"/>
              </a:rPr>
              <a:t>• —   Cross-cutting</a:t>
            </a:r>
          </a:p>
          <a:p>
            <a:pPr>
              <a:spcBef>
                <a:spcPts val="200"/>
              </a:spcBef>
            </a:pPr>
            <a:r>
              <a:rPr sz="900">
                <a:solidFill>
                  <a:srgbClr val="000000"/>
                </a:solidFill>
                <a:latin typeface="Arial"/>
              </a:rPr>
              <a:t>•      ORGANISATION · Auth · Notifications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2880" y="6181344"/>
            <a:ext cx="2423160" cy="292608"/>
          </a:xfrm>
          <a:prstGeom prst="rect">
            <a:avLst/>
          </a:prstGeom>
          <a:solidFill>
            <a:srgbClr val="FFF5E0"/>
          </a:solidFill>
          <a:ln w="9525">
            <a:solidFill>
              <a:srgbClr val="D68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6217920"/>
            <a:ext cx="231343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D68A00"/>
                </a:solidFill>
                <a:latin typeface="Arial"/>
              </a:rPr>
              <a:t>⊕ Mode profiles added per module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0" y="1627632"/>
            <a:ext cx="3200400" cy="486460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816352" y="1664208"/>
            <a:ext cx="307238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1">
                <a:solidFill>
                  <a:srgbClr val="888888"/>
                </a:solidFill>
                <a:latin typeface="Arial"/>
              </a:rPr>
              <a:t>Structure overview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834640" y="1901952"/>
            <a:ext cx="73152" cy="3557016"/>
          </a:xfrm>
          <a:prstGeom prst="rect">
            <a:avLst/>
          </a:prstGeom>
          <a:solidFill>
            <a:srgbClr val="4E3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907792" y="2142308"/>
            <a:ext cx="137160" cy="36576"/>
          </a:xfrm>
          <a:prstGeom prst="rect">
            <a:avLst/>
          </a:prstGeom>
          <a:solidFill>
            <a:srgbClr val="4E3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044952" y="1901952"/>
            <a:ext cx="2788920" cy="489857"/>
          </a:xfrm>
          <a:prstGeom prst="rect">
            <a:avLst/>
          </a:prstGeom>
          <a:solidFill>
            <a:srgbClr val="FBEEC9"/>
          </a:solidFill>
          <a:ln w="9525">
            <a:solidFill>
              <a:srgbClr val="C175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090672" y="1929384"/>
            <a:ext cx="2715768" cy="4532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4E3B30"/>
                </a:solidFill>
                <a:latin typeface="Arial"/>
              </a:rPr>
              <a:t>PLACE &amp; NETWORK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907792" y="2650453"/>
            <a:ext cx="137160" cy="36576"/>
          </a:xfrm>
          <a:prstGeom prst="rect">
            <a:avLst/>
          </a:prstGeom>
          <a:solidFill>
            <a:srgbClr val="4E3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044952" y="2410097"/>
            <a:ext cx="2788920" cy="489857"/>
          </a:xfrm>
          <a:prstGeom prst="rect">
            <a:avLst/>
          </a:prstGeom>
          <a:solidFill>
            <a:srgbClr val="FFFFFF"/>
          </a:solidFill>
          <a:ln w="9525">
            <a:solidFill>
              <a:srgbClr val="C175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090672" y="2437529"/>
            <a:ext cx="2715768" cy="4532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4E3B30"/>
                </a:solidFill>
                <a:latin typeface="Arial"/>
              </a:rPr>
              <a:t>SERVICE JOURNEY &amp; TRIP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907792" y="3158598"/>
            <a:ext cx="137160" cy="36576"/>
          </a:xfrm>
          <a:prstGeom prst="rect">
            <a:avLst/>
          </a:prstGeom>
          <a:solidFill>
            <a:srgbClr val="4E3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044952" y="2918242"/>
            <a:ext cx="2788920" cy="489857"/>
          </a:xfrm>
          <a:prstGeom prst="rect">
            <a:avLst/>
          </a:prstGeom>
          <a:solidFill>
            <a:srgbClr val="FBEEC9"/>
          </a:solidFill>
          <a:ln w="9525">
            <a:solidFill>
              <a:srgbClr val="C175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090672" y="2945674"/>
            <a:ext cx="2715768" cy="4532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4E3B30"/>
                </a:solidFill>
                <a:latin typeface="Arial"/>
              </a:rPr>
              <a:t>FARE PRODUCT &amp; SALES OFFER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907792" y="3666744"/>
            <a:ext cx="137160" cy="36576"/>
          </a:xfrm>
          <a:prstGeom prst="rect">
            <a:avLst/>
          </a:prstGeom>
          <a:solidFill>
            <a:srgbClr val="4E3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044952" y="3426387"/>
            <a:ext cx="2788920" cy="489857"/>
          </a:xfrm>
          <a:prstGeom prst="rect">
            <a:avLst/>
          </a:prstGeom>
          <a:solidFill>
            <a:srgbClr val="FFFFFF"/>
          </a:solidFill>
          <a:ln w="9525">
            <a:solidFill>
              <a:srgbClr val="C175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090672" y="3453819"/>
            <a:ext cx="2715768" cy="4532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4E3B30"/>
                </a:solidFill>
                <a:latin typeface="Arial"/>
              </a:rPr>
              <a:t>BOOKING &amp; RESERVED PLACE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907792" y="4174889"/>
            <a:ext cx="137160" cy="36576"/>
          </a:xfrm>
          <a:prstGeom prst="rect">
            <a:avLst/>
          </a:prstGeom>
          <a:solidFill>
            <a:srgbClr val="4E3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044952" y="3934532"/>
            <a:ext cx="2788920" cy="489857"/>
          </a:xfrm>
          <a:prstGeom prst="rect">
            <a:avLst/>
          </a:prstGeom>
          <a:solidFill>
            <a:srgbClr val="FBEEC9"/>
          </a:solidFill>
          <a:ln w="9525">
            <a:solidFill>
              <a:srgbClr val="C175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090672" y="3961964"/>
            <a:ext cx="2715768" cy="4532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4E3B30"/>
                </a:solidFill>
                <a:latin typeface="Arial"/>
              </a:rPr>
              <a:t>TRAVEL DOCUMENT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907792" y="4683034"/>
            <a:ext cx="137160" cy="36576"/>
          </a:xfrm>
          <a:prstGeom prst="rect">
            <a:avLst/>
          </a:prstGeom>
          <a:solidFill>
            <a:srgbClr val="4E3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044952" y="4442677"/>
            <a:ext cx="2788920" cy="489857"/>
          </a:xfrm>
          <a:prstGeom prst="rect">
            <a:avLst/>
          </a:prstGeom>
          <a:solidFill>
            <a:srgbClr val="FFFFFF"/>
          </a:solidFill>
          <a:ln w="9525">
            <a:solidFill>
              <a:srgbClr val="C175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090672" y="4470109"/>
            <a:ext cx="2715768" cy="4532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4E3B30"/>
                </a:solidFill>
                <a:latin typeface="Arial"/>
              </a:rPr>
              <a:t>TRANSPORT CUSTOMER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907792" y="5191179"/>
            <a:ext cx="137160" cy="36576"/>
          </a:xfrm>
          <a:prstGeom prst="rect">
            <a:avLst/>
          </a:prstGeom>
          <a:solidFill>
            <a:srgbClr val="4E3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044952" y="4950822"/>
            <a:ext cx="2788920" cy="489857"/>
          </a:xfrm>
          <a:prstGeom prst="rect">
            <a:avLst/>
          </a:prstGeom>
          <a:solidFill>
            <a:srgbClr val="FBEEC9"/>
          </a:solidFill>
          <a:ln w="9525">
            <a:solidFill>
              <a:srgbClr val="C175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090672" y="4978254"/>
            <a:ext cx="2715768" cy="4532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4E3B30"/>
                </a:solidFill>
                <a:latin typeface="Arial"/>
              </a:rPr>
              <a:t>ASSET / VEHICLE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834640" y="5504688"/>
            <a:ext cx="3035808" cy="420624"/>
          </a:xfrm>
          <a:prstGeom prst="rect">
            <a:avLst/>
          </a:prstGeom>
          <a:solidFill>
            <a:srgbClr val="FBEEC9"/>
          </a:solidFill>
          <a:ln w="9525">
            <a:solidFill>
              <a:srgbClr val="C175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907792" y="5559552"/>
            <a:ext cx="2926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4E3B30"/>
                </a:solidFill>
                <a:latin typeface="Arial"/>
              </a:rPr>
              <a:t>Cross-cutting: ORGANISATION · Auth · Notifications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834640" y="5971032"/>
            <a:ext cx="3035808" cy="402336"/>
          </a:xfrm>
          <a:prstGeom prst="rect">
            <a:avLst/>
          </a:prstGeom>
          <a:solidFill>
            <a:srgbClr val="FFF5E0"/>
          </a:solidFill>
          <a:ln w="9525">
            <a:solidFill>
              <a:srgbClr val="D68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907792" y="6007608"/>
            <a:ext cx="2907792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D68A00"/>
                </a:solidFill>
                <a:latin typeface="Arial"/>
              </a:rPr>
              <a:t>⊕  Mode-Specific Extensions (per entity module)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080760" y="1627632"/>
            <a:ext cx="2880360" cy="2432304"/>
          </a:xfrm>
          <a:prstGeom prst="rect">
            <a:avLst/>
          </a:prstGeom>
          <a:solidFill>
            <a:srgbClr val="F0FBF0"/>
          </a:solidFill>
          <a:ln w="9525">
            <a:solidFill>
              <a:srgbClr val="CCEE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172200" y="1673352"/>
            <a:ext cx="28803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378644"/>
                </a:solidFill>
                <a:latin typeface="Arial"/>
              </a:rPr>
              <a:t>✓  PROs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172200" y="1938528"/>
            <a:ext cx="2715768" cy="2029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900">
                <a:solidFill>
                  <a:srgbClr val="1A5C1A"/>
                </a:solidFill>
                <a:latin typeface="Arial"/>
              </a:rPr>
              <a:t>+ Maximally aligned with EUDIT's core mission: Transmodel-compliant interface</a:t>
            </a:r>
          </a:p>
          <a:p>
            <a:pPr>
              <a:spcBef>
                <a:spcPts val="300"/>
              </a:spcBef>
            </a:pPr>
            <a:r>
              <a:rPr sz="900">
                <a:solidFill>
                  <a:srgbClr val="1A5C1A"/>
                </a:solidFill>
                <a:latin typeface="Arial"/>
              </a:rPr>
              <a:t>+ Every chapter opens with a canonical Transmodel entity definition</a:t>
            </a:r>
          </a:p>
          <a:p>
            <a:pPr>
              <a:spcBef>
                <a:spcPts val="300"/>
              </a:spcBef>
            </a:pPr>
            <a:r>
              <a:rPr sz="900">
                <a:solidFill>
                  <a:srgbClr val="1A5C1A"/>
                </a:solidFill>
                <a:latin typeface="Arial"/>
              </a:rPr>
              <a:t>+ Leverages x-semantics annotations already applied to all 10 spec files</a:t>
            </a:r>
          </a:p>
          <a:p>
            <a:pPr>
              <a:spcBef>
                <a:spcPts val="300"/>
              </a:spcBef>
            </a:pPr>
            <a:r>
              <a:rPr sz="900">
                <a:solidFill>
                  <a:srgbClr val="1A5C1A"/>
                </a:solidFill>
                <a:latin typeface="Arial"/>
              </a:rPr>
              <a:t>+ Strongest justification for architectural choices to CEN reviewers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080760" y="4133088"/>
            <a:ext cx="2880360" cy="2359152"/>
          </a:xfrm>
          <a:prstGeom prst="rect">
            <a:avLst/>
          </a:prstGeom>
          <a:solidFill>
            <a:srgbClr val="FFF0F0"/>
          </a:solidFill>
          <a:ln w="9525">
            <a:solidFill>
              <a:srgbClr val="EE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172200" y="4178808"/>
            <a:ext cx="28803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0392B"/>
                </a:solidFill>
                <a:latin typeface="Arial"/>
              </a:rPr>
              <a:t>✗  CONs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172200" y="4443984"/>
            <a:ext cx="2715768" cy="1956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900">
                <a:solidFill>
                  <a:srgbClr val="7A1010"/>
                </a:solidFill>
                <a:latin typeface="Arial"/>
              </a:rPr>
              <a:t>− High Transmodel literacy required from readers — accessibility risk</a:t>
            </a:r>
          </a:p>
          <a:p>
            <a:pPr>
              <a:spcBef>
                <a:spcPts val="300"/>
              </a:spcBef>
            </a:pPr>
            <a:r>
              <a:rPr sz="900">
                <a:solidFill>
                  <a:srgbClr val="7A1010"/>
                </a:solidFill>
                <a:latin typeface="Arial"/>
              </a:rPr>
              <a:t>− Purely procedural operations (health, auth, notifications) have no primary Transmodel entity</a:t>
            </a:r>
          </a:p>
          <a:p>
            <a:pPr>
              <a:spcBef>
                <a:spcPts val="300"/>
              </a:spcBef>
            </a:pPr>
            <a:r>
              <a:rPr sz="900">
                <a:solidFill>
                  <a:srgbClr val="7A1010"/>
                </a:solidFill>
                <a:latin typeface="Arial"/>
              </a:rPr>
              <a:t>− Single API call often touches multiple entities: POST /bookings creates BOOKING + RESERVED PLACE + references SALES OFFER PACKAGE</a:t>
            </a:r>
          </a:p>
          <a:p>
            <a:pPr>
              <a:spcBef>
                <a:spcPts val="300"/>
              </a:spcBef>
            </a:pPr>
            <a:r>
              <a:rPr sz="900">
                <a:solidFill>
                  <a:srgbClr val="7A1010"/>
                </a:solidFill>
                <a:latin typeface="Arial"/>
              </a:rPr>
              <a:t>− FerryGateway has no x-semantics annotations — entity assignment is manual</a:t>
            </a:r>
          </a:p>
          <a:p>
            <a:pPr>
              <a:spcBef>
                <a:spcPts val="300"/>
              </a:spcBef>
            </a:pPr>
            <a:r>
              <a:rPr sz="900">
                <a:solidFill>
                  <a:srgbClr val="7A1010"/>
                </a:solidFill>
                <a:latin typeface="Arial"/>
              </a:rPr>
              <a:t>− Highest editorial complexity of all five options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F3CC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0" y="73152"/>
            <a:ext cx="5486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4E3B30"/>
                </a:solidFill>
                <a:latin typeface="Arial"/>
              </a:rPr>
              <a:t>EUDIT — Modularising the Technical Specification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48640"/>
            <a:ext cx="8595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4E3B30"/>
                </a:solidFill>
                <a:latin typeface="Arial"/>
              </a:rPr>
              <a:t>Option E — Hybrid: Lifecycle × Functional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1261872"/>
            <a:ext cx="8595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A19574"/>
                </a:solidFill>
                <a:latin typeface="Arial"/>
              </a:rPr>
              <a:t>Lifecycle phases as top level · functional sub-modules within · 6 phases + cross-cutting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0" y="73152"/>
            <a:ext cx="1691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4E3B30"/>
                </a:solidFill>
                <a:latin typeface="Arial"/>
              </a:rPr>
              <a:t>Slide 12 / 14</a:t>
            </a:r>
          </a:p>
        </p:txBody>
      </p:sp>
      <p:sp>
        <p:nvSpPr>
          <p:cNvPr id="7" name="Rectangle 6"/>
          <p:cNvSpPr/>
          <p:nvPr/>
        </p:nvSpPr>
        <p:spPr>
          <a:xfrm>
            <a:off x="182880" y="1627632"/>
            <a:ext cx="2423160" cy="4864608"/>
          </a:xfrm>
          <a:prstGeom prst="rect">
            <a:avLst/>
          </a:prstGeom>
          <a:solidFill>
            <a:srgbClr val="F2F2F2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682496"/>
            <a:ext cx="22585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4E3B30"/>
                </a:solidFill>
                <a:latin typeface="Arial"/>
              </a:rPr>
              <a:t>Proposed modules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1975104"/>
            <a:ext cx="2258568" cy="44256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</a:pPr>
            <a:r>
              <a:rPr sz="900">
                <a:solidFill>
                  <a:srgbClr val="000000"/>
                </a:solidFill>
                <a:latin typeface="Arial"/>
              </a:rPr>
              <a:t>• 1. Network &amp; Product Catalogue</a:t>
            </a:r>
          </a:p>
          <a:p>
            <a:pPr>
              <a:spcBef>
                <a:spcPts val="200"/>
              </a:spcBef>
            </a:pPr>
            <a:r>
              <a:rPr sz="900">
                <a:solidFill>
                  <a:srgbClr val="000000"/>
                </a:solidFill>
                <a:latin typeface="Arial"/>
              </a:rPr>
              <a:t>•     1.1 Service Discovery</a:t>
            </a:r>
          </a:p>
          <a:p>
            <a:pPr>
              <a:spcBef>
                <a:spcPts val="200"/>
              </a:spcBef>
            </a:pPr>
            <a:r>
              <a:rPr sz="900">
                <a:solidFill>
                  <a:srgbClr val="000000"/>
                </a:solidFill>
                <a:latin typeface="Arial"/>
              </a:rPr>
              <a:t>•     1.2 Network Data</a:t>
            </a:r>
          </a:p>
          <a:p>
            <a:pPr>
              <a:spcBef>
                <a:spcPts val="200"/>
              </a:spcBef>
            </a:pPr>
            <a:r>
              <a:rPr sz="900">
                <a:solidFill>
                  <a:srgbClr val="000000"/>
                </a:solidFill>
                <a:latin typeface="Arial"/>
              </a:rPr>
              <a:t>•     1.3 Product Catalogue &amp; Pricing</a:t>
            </a:r>
          </a:p>
          <a:p>
            <a:pPr>
              <a:spcBef>
                <a:spcPts val="200"/>
              </a:spcBef>
            </a:pPr>
            <a:r>
              <a:rPr sz="900">
                <a:solidFill>
                  <a:srgbClr val="000000"/>
                </a:solidFill>
                <a:latin typeface="Arial"/>
              </a:rPr>
              <a:t>• 2. Planning &amp; Selection</a:t>
            </a:r>
          </a:p>
          <a:p>
            <a:pPr>
              <a:spcBef>
                <a:spcPts val="200"/>
              </a:spcBef>
            </a:pPr>
            <a:r>
              <a:rPr sz="900">
                <a:solidFill>
                  <a:srgbClr val="000000"/>
                </a:solidFill>
                <a:latin typeface="Arial"/>
              </a:rPr>
              <a:t>•     2.1 Journey Search   2.2 Offers</a:t>
            </a:r>
          </a:p>
          <a:p>
            <a:pPr>
              <a:spcBef>
                <a:spcPts val="200"/>
              </a:spcBef>
            </a:pPr>
            <a:r>
              <a:rPr sz="900">
                <a:solidFill>
                  <a:srgbClr val="000000"/>
                </a:solidFill>
                <a:latin typeface="Arial"/>
              </a:rPr>
              <a:t>• 3. Purchase</a:t>
            </a:r>
          </a:p>
          <a:p>
            <a:pPr>
              <a:spcBef>
                <a:spcPts val="200"/>
              </a:spcBef>
            </a:pPr>
            <a:r>
              <a:rPr sz="900">
                <a:solidFill>
                  <a:srgbClr val="000000"/>
                </a:solidFill>
                <a:latin typeface="Arial"/>
              </a:rPr>
              <a:t>•     3.1 Booking &amp; Reservation   3.2 Payment</a:t>
            </a:r>
          </a:p>
          <a:p>
            <a:pPr>
              <a:spcBef>
                <a:spcPts val="200"/>
              </a:spcBef>
            </a:pPr>
            <a:r>
              <a:rPr sz="900">
                <a:solidFill>
                  <a:srgbClr val="000000"/>
                </a:solidFill>
                <a:latin typeface="Arial"/>
              </a:rPr>
              <a:t>• 4. Entitlements</a:t>
            </a:r>
          </a:p>
          <a:p>
            <a:pPr>
              <a:spcBef>
                <a:spcPts val="200"/>
              </a:spcBef>
            </a:pPr>
            <a:r>
              <a:rPr sz="900">
                <a:solidFill>
                  <a:srgbClr val="000000"/>
                </a:solidFill>
                <a:latin typeface="Arial"/>
              </a:rPr>
              <a:t>•     4.1 Fulfillment &amp; Tickets</a:t>
            </a:r>
          </a:p>
          <a:p>
            <a:pPr>
              <a:spcBef>
                <a:spcPts val="200"/>
              </a:spcBef>
            </a:pPr>
            <a:r>
              <a:rPr sz="900">
                <a:solidFill>
                  <a:srgbClr val="000000"/>
                </a:solidFill>
                <a:latin typeface="Arial"/>
              </a:rPr>
              <a:t>•     4.2 Traveller Mgmt   4.3 Documents</a:t>
            </a:r>
          </a:p>
          <a:p>
            <a:pPr>
              <a:spcBef>
                <a:spcPts val="200"/>
              </a:spcBef>
            </a:pPr>
            <a:r>
              <a:rPr sz="900">
                <a:solidFill>
                  <a:srgbClr val="000000"/>
                </a:solidFill>
                <a:latin typeface="Arial"/>
              </a:rPr>
              <a:t>• 5. In-Journey</a:t>
            </a:r>
          </a:p>
          <a:p>
            <a:pPr>
              <a:spcBef>
                <a:spcPts val="200"/>
              </a:spcBef>
            </a:pPr>
            <a:r>
              <a:rPr sz="900">
                <a:solidFill>
                  <a:srgbClr val="000000"/>
                </a:solidFill>
                <a:latin typeface="Arial"/>
              </a:rPr>
              <a:t>•     5.1 Validation &amp; Inspection   5.2 Assets</a:t>
            </a:r>
          </a:p>
          <a:p>
            <a:pPr>
              <a:spcBef>
                <a:spcPts val="200"/>
              </a:spcBef>
            </a:pPr>
            <a:r>
              <a:rPr sz="900">
                <a:solidFill>
                  <a:srgbClr val="000000"/>
                </a:solidFill>
                <a:latin typeface="Arial"/>
              </a:rPr>
              <a:t>• 6. Post-Journey</a:t>
            </a:r>
          </a:p>
          <a:p>
            <a:pPr>
              <a:spcBef>
                <a:spcPts val="200"/>
              </a:spcBef>
            </a:pPr>
            <a:r>
              <a:rPr sz="900">
                <a:solidFill>
                  <a:srgbClr val="000000"/>
                </a:solidFill>
                <a:latin typeface="Arial"/>
              </a:rPr>
              <a:t>•     6.1 After-Sales   6.2 Complaints</a:t>
            </a:r>
          </a:p>
          <a:p>
            <a:pPr>
              <a:spcBef>
                <a:spcPts val="200"/>
              </a:spcBef>
            </a:pPr>
            <a:r>
              <a:rPr sz="900">
                <a:solidFill>
                  <a:srgbClr val="000000"/>
                </a:solidFill>
                <a:latin typeface="Arial"/>
              </a:rPr>
              <a:t>• 7. Cross-cutting</a:t>
            </a:r>
          </a:p>
          <a:p>
            <a:pPr>
              <a:spcBef>
                <a:spcPts val="200"/>
              </a:spcBef>
            </a:pPr>
            <a:r>
              <a:rPr sz="900">
                <a:solidFill>
                  <a:srgbClr val="000000"/>
                </a:solidFill>
                <a:latin typeface="Arial"/>
              </a:rPr>
              <a:t>•     7.1 Auth &amp; Identity</a:t>
            </a:r>
          </a:p>
          <a:p>
            <a:pPr>
              <a:spcBef>
                <a:spcPts val="200"/>
              </a:spcBef>
            </a:pPr>
            <a:r>
              <a:rPr sz="900">
                <a:solidFill>
                  <a:srgbClr val="000000"/>
                </a:solidFill>
                <a:latin typeface="Arial"/>
              </a:rPr>
              <a:t>•     7.2 Notifications   7.3 Metadata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2880" y="6181344"/>
            <a:ext cx="2423160" cy="292608"/>
          </a:xfrm>
          <a:prstGeom prst="rect">
            <a:avLst/>
          </a:prstGeom>
          <a:solidFill>
            <a:srgbClr val="FFF5E0"/>
          </a:solidFill>
          <a:ln w="9525">
            <a:solidFill>
              <a:srgbClr val="D68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6217920"/>
            <a:ext cx="231343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D68A00"/>
                </a:solidFill>
                <a:latin typeface="Arial"/>
              </a:rPr>
              <a:t>⊕ Mode profiles added per module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0" y="1627632"/>
            <a:ext cx="3200400" cy="486460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816352" y="1664208"/>
            <a:ext cx="307238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1">
                <a:solidFill>
                  <a:srgbClr val="888888"/>
                </a:solidFill>
                <a:latin typeface="Arial"/>
              </a:rPr>
              <a:t>Structure overview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834640" y="1901952"/>
            <a:ext cx="1005840" cy="574548"/>
          </a:xfrm>
          <a:prstGeom prst="rect">
            <a:avLst/>
          </a:prstGeom>
          <a:solidFill>
            <a:srgbClr val="4E3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880360" y="1938528"/>
            <a:ext cx="932688" cy="5196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FFFFFF"/>
                </a:solidFill>
                <a:latin typeface="Arial"/>
              </a:rPr>
              <a:t>1. Net &amp; Catalogue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877056" y="1901952"/>
            <a:ext cx="646176" cy="574548"/>
          </a:xfrm>
          <a:prstGeom prst="rect">
            <a:avLst/>
          </a:prstGeom>
          <a:solidFill>
            <a:srgbClr val="FBEEC9"/>
          </a:solidFill>
          <a:ln w="9525">
            <a:solidFill>
              <a:srgbClr val="C175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913632" y="1938528"/>
            <a:ext cx="591312" cy="5196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4E3B30"/>
                </a:solidFill>
                <a:latin typeface="Arial"/>
              </a:rPr>
              <a:t>1.1 Discovery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50664" y="1901952"/>
            <a:ext cx="646176" cy="574548"/>
          </a:xfrm>
          <a:prstGeom prst="rect">
            <a:avLst/>
          </a:prstGeom>
          <a:solidFill>
            <a:srgbClr val="FBEEC9"/>
          </a:solidFill>
          <a:ln w="9525">
            <a:solidFill>
              <a:srgbClr val="C175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87240" y="1938528"/>
            <a:ext cx="591312" cy="5196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4E3B30"/>
                </a:solidFill>
                <a:latin typeface="Arial"/>
              </a:rPr>
              <a:t>1.2 Network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224272" y="1901952"/>
            <a:ext cx="646176" cy="574548"/>
          </a:xfrm>
          <a:prstGeom prst="rect">
            <a:avLst/>
          </a:prstGeom>
          <a:solidFill>
            <a:srgbClr val="FBEEC9"/>
          </a:solidFill>
          <a:ln w="9525">
            <a:solidFill>
              <a:srgbClr val="C175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260848" y="1938528"/>
            <a:ext cx="591312" cy="5196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4E3B30"/>
                </a:solidFill>
                <a:latin typeface="Arial"/>
              </a:rPr>
              <a:t>1.3 Products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834640" y="2494788"/>
            <a:ext cx="1005840" cy="574548"/>
          </a:xfrm>
          <a:prstGeom prst="rect">
            <a:avLst/>
          </a:prstGeom>
          <a:solidFill>
            <a:srgbClr val="C175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880360" y="2531364"/>
            <a:ext cx="932688" cy="5196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FFFFFF"/>
                </a:solidFill>
                <a:latin typeface="Arial"/>
              </a:rPr>
              <a:t>2. Planning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877056" y="2494788"/>
            <a:ext cx="982980" cy="574548"/>
          </a:xfrm>
          <a:prstGeom prst="rect">
            <a:avLst/>
          </a:prstGeom>
          <a:solidFill>
            <a:srgbClr val="F2F2F2"/>
          </a:solidFill>
          <a:ln w="9525">
            <a:solidFill>
              <a:srgbClr val="C175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913632" y="2531364"/>
            <a:ext cx="928116" cy="5196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4E3B30"/>
                </a:solidFill>
                <a:latin typeface="Arial"/>
              </a:rPr>
              <a:t>2.1 Journey Search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887468" y="2494788"/>
            <a:ext cx="982980" cy="574548"/>
          </a:xfrm>
          <a:prstGeom prst="rect">
            <a:avLst/>
          </a:prstGeom>
          <a:solidFill>
            <a:srgbClr val="F2F2F2"/>
          </a:solidFill>
          <a:ln w="9525">
            <a:solidFill>
              <a:srgbClr val="C175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924044" y="2531364"/>
            <a:ext cx="928116" cy="5196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4E3B30"/>
                </a:solidFill>
                <a:latin typeface="Arial"/>
              </a:rPr>
              <a:t>2.2 Offers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834640" y="3087624"/>
            <a:ext cx="1005840" cy="574548"/>
          </a:xfrm>
          <a:prstGeom prst="rect">
            <a:avLst/>
          </a:prstGeom>
          <a:solidFill>
            <a:srgbClr val="4E3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880360" y="3124200"/>
            <a:ext cx="932688" cy="5196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FFFFFF"/>
                </a:solidFill>
                <a:latin typeface="Arial"/>
              </a:rPr>
              <a:t>3. Purchase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877056" y="3087624"/>
            <a:ext cx="982980" cy="574548"/>
          </a:xfrm>
          <a:prstGeom prst="rect">
            <a:avLst/>
          </a:prstGeom>
          <a:solidFill>
            <a:srgbClr val="FBEEC9"/>
          </a:solidFill>
          <a:ln w="9525">
            <a:solidFill>
              <a:srgbClr val="C175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913632" y="3124200"/>
            <a:ext cx="928116" cy="5196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4E3B30"/>
                </a:solidFill>
                <a:latin typeface="Arial"/>
              </a:rPr>
              <a:t>3.1 Booking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887468" y="3087624"/>
            <a:ext cx="982980" cy="574548"/>
          </a:xfrm>
          <a:prstGeom prst="rect">
            <a:avLst/>
          </a:prstGeom>
          <a:solidFill>
            <a:srgbClr val="FBEEC9"/>
          </a:solidFill>
          <a:ln w="9525">
            <a:solidFill>
              <a:srgbClr val="C175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924044" y="3124200"/>
            <a:ext cx="928116" cy="5196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4E3B30"/>
                </a:solidFill>
                <a:latin typeface="Arial"/>
              </a:rPr>
              <a:t>3.2 Payment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834640" y="3680460"/>
            <a:ext cx="1005840" cy="574548"/>
          </a:xfrm>
          <a:prstGeom prst="rect">
            <a:avLst/>
          </a:prstGeom>
          <a:solidFill>
            <a:srgbClr val="C175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880360" y="3717036"/>
            <a:ext cx="932688" cy="5196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FFFFFF"/>
                </a:solidFill>
                <a:latin typeface="Arial"/>
              </a:rPr>
              <a:t>4. Entitlements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877056" y="3680460"/>
            <a:ext cx="646176" cy="574548"/>
          </a:xfrm>
          <a:prstGeom prst="rect">
            <a:avLst/>
          </a:prstGeom>
          <a:solidFill>
            <a:srgbClr val="F2F2F2"/>
          </a:solidFill>
          <a:ln w="9525">
            <a:solidFill>
              <a:srgbClr val="C175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913632" y="3717036"/>
            <a:ext cx="591312" cy="5196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4E3B30"/>
                </a:solidFill>
                <a:latin typeface="Arial"/>
              </a:rPr>
              <a:t>4.1 Fulfillment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50664" y="3680460"/>
            <a:ext cx="646176" cy="574548"/>
          </a:xfrm>
          <a:prstGeom prst="rect">
            <a:avLst/>
          </a:prstGeom>
          <a:solidFill>
            <a:srgbClr val="F2F2F2"/>
          </a:solidFill>
          <a:ln w="9525">
            <a:solidFill>
              <a:srgbClr val="C175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587240" y="3717036"/>
            <a:ext cx="591312" cy="5196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4E3B30"/>
                </a:solidFill>
                <a:latin typeface="Arial"/>
              </a:rPr>
              <a:t>4.2 Traveller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224272" y="3680460"/>
            <a:ext cx="646176" cy="574548"/>
          </a:xfrm>
          <a:prstGeom prst="rect">
            <a:avLst/>
          </a:prstGeom>
          <a:solidFill>
            <a:srgbClr val="F2F2F2"/>
          </a:solidFill>
          <a:ln w="9525">
            <a:solidFill>
              <a:srgbClr val="C175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260848" y="3717036"/>
            <a:ext cx="591312" cy="5196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4E3B30"/>
                </a:solidFill>
                <a:latin typeface="Arial"/>
              </a:rPr>
              <a:t>4.3 Docs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834640" y="4273296"/>
            <a:ext cx="1005840" cy="574548"/>
          </a:xfrm>
          <a:prstGeom prst="rect">
            <a:avLst/>
          </a:prstGeom>
          <a:solidFill>
            <a:srgbClr val="4E3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880360" y="4309872"/>
            <a:ext cx="932688" cy="5196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FFFFFF"/>
                </a:solidFill>
                <a:latin typeface="Arial"/>
              </a:rPr>
              <a:t>5. In-Journey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877056" y="4273296"/>
            <a:ext cx="982980" cy="574548"/>
          </a:xfrm>
          <a:prstGeom prst="rect">
            <a:avLst/>
          </a:prstGeom>
          <a:solidFill>
            <a:srgbClr val="FBEEC9"/>
          </a:solidFill>
          <a:ln w="9525">
            <a:solidFill>
              <a:srgbClr val="C175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913632" y="4309872"/>
            <a:ext cx="928116" cy="5196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4E3B30"/>
                </a:solidFill>
                <a:latin typeface="Arial"/>
              </a:rPr>
              <a:t>5.1 Validation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887468" y="4273296"/>
            <a:ext cx="982980" cy="574548"/>
          </a:xfrm>
          <a:prstGeom prst="rect">
            <a:avLst/>
          </a:prstGeom>
          <a:solidFill>
            <a:srgbClr val="FBEEC9"/>
          </a:solidFill>
          <a:ln w="9525">
            <a:solidFill>
              <a:srgbClr val="C175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924044" y="4309872"/>
            <a:ext cx="928116" cy="5196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4E3B30"/>
                </a:solidFill>
                <a:latin typeface="Arial"/>
              </a:rPr>
              <a:t>5.2 Assets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834640" y="4866132"/>
            <a:ext cx="1005840" cy="574548"/>
          </a:xfrm>
          <a:prstGeom prst="rect">
            <a:avLst/>
          </a:prstGeom>
          <a:solidFill>
            <a:srgbClr val="C175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880360" y="4902708"/>
            <a:ext cx="932688" cy="5196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FFFFFF"/>
                </a:solidFill>
                <a:latin typeface="Arial"/>
              </a:rPr>
              <a:t>6. Post-Journey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877056" y="4866132"/>
            <a:ext cx="982980" cy="574548"/>
          </a:xfrm>
          <a:prstGeom prst="rect">
            <a:avLst/>
          </a:prstGeom>
          <a:solidFill>
            <a:srgbClr val="F2F2F2"/>
          </a:solidFill>
          <a:ln w="9525">
            <a:solidFill>
              <a:srgbClr val="C175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913632" y="4902708"/>
            <a:ext cx="928116" cy="5196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4E3B30"/>
                </a:solidFill>
                <a:latin typeface="Arial"/>
              </a:rPr>
              <a:t>6.1 After-Sales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887468" y="4866132"/>
            <a:ext cx="982980" cy="574548"/>
          </a:xfrm>
          <a:prstGeom prst="rect">
            <a:avLst/>
          </a:prstGeom>
          <a:solidFill>
            <a:srgbClr val="F2F2F2"/>
          </a:solidFill>
          <a:ln w="9525">
            <a:solidFill>
              <a:srgbClr val="C175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924044" y="4902708"/>
            <a:ext cx="928116" cy="5196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4E3B30"/>
                </a:solidFill>
                <a:latin typeface="Arial"/>
              </a:rPr>
              <a:t>6.2 Support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834640" y="5504688"/>
            <a:ext cx="3035808" cy="420624"/>
          </a:xfrm>
          <a:prstGeom prst="rect">
            <a:avLst/>
          </a:prstGeom>
          <a:solidFill>
            <a:srgbClr val="FBEEC9"/>
          </a:solidFill>
          <a:ln w="9525">
            <a:solidFill>
              <a:srgbClr val="C175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907792" y="5559552"/>
            <a:ext cx="2926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4E3B30"/>
                </a:solidFill>
                <a:latin typeface="Arial"/>
              </a:rPr>
              <a:t>Cross-cutting:  Auth  ·  Notifications  ·  Metadata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834640" y="5971032"/>
            <a:ext cx="3035808" cy="402336"/>
          </a:xfrm>
          <a:prstGeom prst="rect">
            <a:avLst/>
          </a:prstGeom>
          <a:solidFill>
            <a:srgbClr val="FFF5E0"/>
          </a:solidFill>
          <a:ln w="9525">
            <a:solidFill>
              <a:srgbClr val="D68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907792" y="6007608"/>
            <a:ext cx="2907792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D68A00"/>
                </a:solidFill>
                <a:latin typeface="Arial"/>
              </a:rPr>
              <a:t>⊕  Mode-Specific Extensions (per phase / sub-module)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080760" y="1627632"/>
            <a:ext cx="2880360" cy="2432304"/>
          </a:xfrm>
          <a:prstGeom prst="rect">
            <a:avLst/>
          </a:prstGeom>
          <a:solidFill>
            <a:srgbClr val="F0FBF0"/>
          </a:solidFill>
          <a:ln w="9525">
            <a:solidFill>
              <a:srgbClr val="CCEE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172200" y="1673352"/>
            <a:ext cx="28803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378644"/>
                </a:solidFill>
                <a:latin typeface="Arial"/>
              </a:rPr>
              <a:t>✓  PROs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172200" y="1938528"/>
            <a:ext cx="2715768" cy="2029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900">
                <a:solidFill>
                  <a:srgbClr val="1A5C1A"/>
                </a:solidFill>
                <a:latin typeface="Arial"/>
              </a:rPr>
              <a:t>+ Lifecycle phases = narrative clarity; functional sub-modules = operational precision</a:t>
            </a:r>
          </a:p>
          <a:p>
            <a:pPr>
              <a:spcBef>
                <a:spcPts val="300"/>
              </a:spcBef>
            </a:pPr>
            <a:r>
              <a:rPr sz="900">
                <a:solidFill>
                  <a:srgbClr val="1A5C1A"/>
                </a:solidFill>
                <a:latin typeface="Arial"/>
              </a:rPr>
              <a:t>+ Top-level phases match CoRoM use cases and user-action entries</a:t>
            </a:r>
          </a:p>
          <a:p>
            <a:pPr>
              <a:spcBef>
                <a:spcPts val="300"/>
              </a:spcBef>
            </a:pPr>
            <a:r>
              <a:rPr sz="900">
                <a:solidFill>
                  <a:srgbClr val="1A5C1A"/>
                </a:solidFill>
                <a:latin typeface="Arial"/>
              </a:rPr>
              <a:t>+ Cross-cutting cluster cleanly isolates auth, notifications, metadata</a:t>
            </a:r>
          </a:p>
          <a:p>
            <a:pPr>
              <a:spcBef>
                <a:spcPts val="300"/>
              </a:spcBef>
            </a:pPr>
            <a:r>
              <a:rPr sz="900">
                <a:solidFill>
                  <a:srgbClr val="1A5C1A"/>
                </a:solidFill>
                <a:latin typeface="Arial"/>
              </a:rPr>
              <a:t>+ Balanced chapter sizes — no near-empty phase chapters</a:t>
            </a:r>
          </a:p>
          <a:p>
            <a:pPr>
              <a:spcBef>
                <a:spcPts val="300"/>
              </a:spcBef>
            </a:pPr>
            <a:r>
              <a:rPr sz="900">
                <a:solidFill>
                  <a:srgbClr val="1A5C1A"/>
                </a:solidFill>
                <a:latin typeface="Arial"/>
              </a:rPr>
              <a:t>+ Scales: new operations added to a sub-module without TS restructuring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080760" y="4133088"/>
            <a:ext cx="2880360" cy="2359152"/>
          </a:xfrm>
          <a:prstGeom prst="rect">
            <a:avLst/>
          </a:prstGeom>
          <a:solidFill>
            <a:srgbClr val="FFF0F0"/>
          </a:solidFill>
          <a:ln w="9525">
            <a:solidFill>
              <a:srgbClr val="EE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172200" y="4178808"/>
            <a:ext cx="28803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0392B"/>
                </a:solidFill>
                <a:latin typeface="Arial"/>
              </a:rPr>
              <a:t>✗  CONs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172200" y="4443984"/>
            <a:ext cx="2715768" cy="1956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900">
                <a:solidFill>
                  <a:srgbClr val="7A1010"/>
                </a:solidFill>
                <a:latin typeface="Arial"/>
              </a:rPr>
              <a:t>− Two-level hierarchy produces more cross-references than flat options</a:t>
            </a:r>
          </a:p>
          <a:p>
            <a:pPr>
              <a:spcBef>
                <a:spcPts val="300"/>
              </a:spcBef>
            </a:pPr>
            <a:r>
              <a:rPr sz="900">
                <a:solidFill>
                  <a:srgbClr val="7A1010"/>
                </a:solidFill>
                <a:latin typeface="Arial"/>
              </a:rPr>
              <a:t>− Sub-module boundary drift risk during Phase 3 (The Anvil) iterations</a:t>
            </a:r>
          </a:p>
          <a:p>
            <a:pPr>
              <a:spcBef>
                <a:spcPts val="300"/>
              </a:spcBef>
            </a:pPr>
            <a:r>
              <a:rPr sz="900">
                <a:solidFill>
                  <a:srgbClr val="7A1010"/>
                </a:solidFill>
                <a:latin typeface="Arial"/>
              </a:rPr>
              <a:t>− Risk of over-engineering structure before TS content is stable in Phase 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F3CC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0" y="73152"/>
            <a:ext cx="5486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4E3B30"/>
                </a:solidFill>
                <a:latin typeface="Arial"/>
              </a:rPr>
              <a:t>EUDIT — Modularising the Technical Specification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48640"/>
            <a:ext cx="8595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4E3B30"/>
                </a:solidFill>
                <a:latin typeface="Arial"/>
              </a:rPr>
              <a:t>Comparison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1261872"/>
            <a:ext cx="8595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A19574"/>
                </a:solidFill>
                <a:latin typeface="Arial"/>
              </a:rPr>
              <a:t>✓✓ = strong fit   ✓ = adequate   ~ = partial   ✗ = weak fit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0" y="73152"/>
            <a:ext cx="1691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4E3B30"/>
                </a:solidFill>
                <a:latin typeface="Arial"/>
              </a:rPr>
              <a:t>Slide 13 / 14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182880" y="1664208"/>
          <a:ext cx="8778240" cy="49030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0280"/>
                <a:gridCol w="1307592"/>
                <a:gridCol w="1307592"/>
                <a:gridCol w="1307592"/>
                <a:gridCol w="1307592"/>
                <a:gridCol w="1307592"/>
              </a:tblGrid>
              <a:tr h="700430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Criterion</a:t>
                      </a:r>
                    </a:p>
                  </a:txBody>
                  <a:tcPr>
                    <a:solidFill>
                      <a:srgbClr val="4E3B3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A
Functional</a:t>
                      </a:r>
                    </a:p>
                  </a:txBody>
                  <a:tcPr>
                    <a:solidFill>
                      <a:srgbClr val="4E3B3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B
Lifecycle</a:t>
                      </a:r>
                    </a:p>
                  </a:txBody>
                  <a:tcPr>
                    <a:solidFill>
                      <a:srgbClr val="4E3B3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C
Actor/Role</a:t>
                      </a:r>
                    </a:p>
                  </a:txBody>
                  <a:tcPr>
                    <a:solidFill>
                      <a:srgbClr val="4E3B3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D
Transmodel</a:t>
                      </a:r>
                    </a:p>
                  </a:txBody>
                  <a:tcPr>
                    <a:solidFill>
                      <a:srgbClr val="4E3B3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E
Hybrid</a:t>
                      </a:r>
                    </a:p>
                  </a:txBody>
                  <a:tcPr>
                    <a:solidFill>
                      <a:srgbClr val="4E3B30"/>
                    </a:solidFill>
                  </a:tcPr>
                </a:tc>
              </a:tr>
              <a:tr h="70043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000000"/>
                          </a:solidFill>
                          <a:latin typeface="Arial"/>
                        </a:rPr>
                        <a:t>Transmodel alignment</a:t>
                      </a:r>
                    </a:p>
                  </a:txBody>
                  <a:tcPr>
                    <a:solidFill>
                      <a:srgbClr val="FBEEC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D68A00"/>
                          </a:solidFill>
                          <a:latin typeface="Arial"/>
                        </a:rPr>
                        <a:t>~</a:t>
                      </a:r>
                    </a:p>
                  </a:txBody>
                  <a:tcPr>
                    <a:solidFill>
                      <a:srgbClr val="FBEEC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D68A00"/>
                          </a:solidFill>
                          <a:latin typeface="Arial"/>
                        </a:rPr>
                        <a:t>~</a:t>
                      </a:r>
                    </a:p>
                  </a:txBody>
                  <a:tcPr>
                    <a:solidFill>
                      <a:srgbClr val="FBEEC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C17529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>
                    <a:solidFill>
                      <a:srgbClr val="FBEEC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378644"/>
                          </a:solidFill>
                          <a:latin typeface="Arial"/>
                        </a:rPr>
                        <a:t>✓✓</a:t>
                      </a:r>
                    </a:p>
                  </a:txBody>
                  <a:tcPr>
                    <a:solidFill>
                      <a:srgbClr val="FBEEC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C17529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>
                    <a:solidFill>
                      <a:srgbClr val="FBEEC9"/>
                    </a:solidFill>
                  </a:tcPr>
                </a:tc>
              </a:tr>
              <a:tr h="70043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000000"/>
                          </a:solidFill>
                          <a:latin typeface="Arial"/>
                        </a:rPr>
                        <a:t>Narrative clarity for working group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D68A00"/>
                          </a:solidFill>
                          <a:latin typeface="Arial"/>
                        </a:rPr>
                        <a:t>~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378644"/>
                          </a:solidFill>
                          <a:latin typeface="Arial"/>
                        </a:rPr>
                        <a:t>✓✓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C17529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D68A00"/>
                          </a:solidFill>
                          <a:latin typeface="Arial"/>
                        </a:rPr>
                        <a:t>~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378644"/>
                          </a:solidFill>
                          <a:latin typeface="Arial"/>
                        </a:rPr>
                        <a:t>✓✓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0043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000000"/>
                          </a:solidFill>
                          <a:latin typeface="Arial"/>
                        </a:rPr>
                        <a:t>Traceability to CoRoM use cases</a:t>
                      </a:r>
                    </a:p>
                  </a:txBody>
                  <a:tcPr>
                    <a:solidFill>
                      <a:srgbClr val="FBEEC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D68A00"/>
                          </a:solidFill>
                          <a:latin typeface="Arial"/>
                        </a:rPr>
                        <a:t>~</a:t>
                      </a:r>
                    </a:p>
                  </a:txBody>
                  <a:tcPr>
                    <a:solidFill>
                      <a:srgbClr val="FBEEC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378644"/>
                          </a:solidFill>
                          <a:latin typeface="Arial"/>
                        </a:rPr>
                        <a:t>✓✓</a:t>
                      </a:r>
                    </a:p>
                  </a:txBody>
                  <a:tcPr>
                    <a:solidFill>
                      <a:srgbClr val="FBEEC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C17529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>
                    <a:solidFill>
                      <a:srgbClr val="FBEEC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D68A00"/>
                          </a:solidFill>
                          <a:latin typeface="Arial"/>
                        </a:rPr>
                        <a:t>~</a:t>
                      </a:r>
                    </a:p>
                  </a:txBody>
                  <a:tcPr>
                    <a:solidFill>
                      <a:srgbClr val="FBEEC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378644"/>
                          </a:solidFill>
                          <a:latin typeface="Arial"/>
                        </a:rPr>
                        <a:t>✓✓</a:t>
                      </a:r>
                    </a:p>
                  </a:txBody>
                  <a:tcPr>
                    <a:solidFill>
                      <a:srgbClr val="FBEEC9"/>
                    </a:solidFill>
                  </a:tcPr>
                </a:tc>
              </a:tr>
              <a:tr h="70043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000000"/>
                          </a:solidFill>
                          <a:latin typeface="Arial"/>
                        </a:rPr>
                        <a:t>Implementor usability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378644"/>
                          </a:solidFill>
                          <a:latin typeface="Arial"/>
                        </a:rPr>
                        <a:t>✓✓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C17529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C17529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D68A00"/>
                          </a:solidFill>
                          <a:latin typeface="Arial"/>
                        </a:rPr>
                        <a:t>~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C17529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0043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000000"/>
                          </a:solidFill>
                          <a:latin typeface="Arial"/>
                        </a:rPr>
                        <a:t>Coverage balance across standards</a:t>
                      </a:r>
                    </a:p>
                  </a:txBody>
                  <a:tcPr>
                    <a:solidFill>
                      <a:srgbClr val="FBEEC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C17529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>
                    <a:solidFill>
                      <a:srgbClr val="FBEEC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D68A00"/>
                          </a:solidFill>
                          <a:latin typeface="Arial"/>
                        </a:rPr>
                        <a:t>~</a:t>
                      </a:r>
                    </a:p>
                  </a:txBody>
                  <a:tcPr>
                    <a:solidFill>
                      <a:srgbClr val="FBEEC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D68A00"/>
                          </a:solidFill>
                          <a:latin typeface="Arial"/>
                        </a:rPr>
                        <a:t>~</a:t>
                      </a:r>
                    </a:p>
                  </a:txBody>
                  <a:tcPr>
                    <a:solidFill>
                      <a:srgbClr val="FBEEC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D68A00"/>
                          </a:solidFill>
                          <a:latin typeface="Arial"/>
                        </a:rPr>
                        <a:t>~</a:t>
                      </a:r>
                    </a:p>
                  </a:txBody>
                  <a:tcPr>
                    <a:solidFill>
                      <a:srgbClr val="FBEEC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C17529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>
                    <a:solidFill>
                      <a:srgbClr val="FBEEC9"/>
                    </a:solidFill>
                  </a:tcPr>
                </a:tc>
              </a:tr>
              <a:tr h="70043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000000"/>
                          </a:solidFill>
                          <a:latin typeface="Arial"/>
                        </a:rPr>
                        <a:t>Editorial complexity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378644"/>
                          </a:solidFill>
                          <a:latin typeface="Arial"/>
                        </a:rPr>
                        <a:t>low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378644"/>
                          </a:solidFill>
                          <a:latin typeface="Arial"/>
                        </a:rPr>
                        <a:t>low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D68A00"/>
                          </a:solidFill>
                          <a:latin typeface="Arial"/>
                        </a:rPr>
                        <a:t>med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C0392B"/>
                          </a:solidFill>
                          <a:latin typeface="Arial"/>
                        </a:rPr>
                        <a:t>high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D68A00"/>
                          </a:solidFill>
                          <a:latin typeface="Arial"/>
                        </a:rPr>
                        <a:t>med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F3CC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0" y="73152"/>
            <a:ext cx="5486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4E3B30"/>
                </a:solidFill>
                <a:latin typeface="Arial"/>
              </a:rPr>
              <a:t>EUDIT — Modularising the Technical Specification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48640"/>
            <a:ext cx="8595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4E3B30"/>
                </a:solidFill>
                <a:latin typeface="Arial"/>
              </a:rPr>
              <a:t>Open Questions for Discussion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1261872"/>
            <a:ext cx="8595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A19574"/>
                </a:solidFill>
                <a:latin typeface="Arial"/>
              </a:rPr>
              <a:t>[TO DISCUSS / COMPLETE] — items for the working-group meeting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0" y="73152"/>
            <a:ext cx="1691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4E3B30"/>
                </a:solidFill>
                <a:latin typeface="Arial"/>
              </a:rPr>
              <a:t>Slide 14 / 14</a:t>
            </a:r>
          </a:p>
        </p:txBody>
      </p:sp>
      <p:sp>
        <p:nvSpPr>
          <p:cNvPr id="7" name="Rectangle 6"/>
          <p:cNvSpPr/>
          <p:nvPr/>
        </p:nvSpPr>
        <p:spPr>
          <a:xfrm>
            <a:off x="228600" y="1719072"/>
            <a:ext cx="365760" cy="365760"/>
          </a:xfrm>
          <a:prstGeom prst="rect">
            <a:avLst/>
          </a:prstGeom>
          <a:solidFill>
            <a:srgbClr val="D68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28600" y="171907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Q1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6733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4E3B30"/>
                </a:solidFill>
                <a:latin typeface="Arial"/>
              </a:rPr>
              <a:t>Validation &amp; Inspection scope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947672"/>
            <a:ext cx="82296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Arial"/>
              </a:rPr>
              <a:t>BoB is currently the only standard covering Domain 9. Full TS module, or sub-section of Fulfillment pending other standards adding inspection?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28600" y="2670048"/>
            <a:ext cx="365760" cy="365760"/>
          </a:xfrm>
          <a:prstGeom prst="rect">
            <a:avLst/>
          </a:prstGeom>
          <a:solidFill>
            <a:srgbClr val="D68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8600" y="2670048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Q2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624328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4E3B30"/>
                </a:solidFill>
                <a:latin typeface="Arial"/>
              </a:rPr>
              <a:t>FerryGateway RPC mapping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898648"/>
            <a:ext cx="82296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Arial"/>
              </a:rPr>
              <a:t>FerryGateway's message pairs bundle multiple lifecycle phases. Under Option B or E, does a bundled pair (e.g. Book) appear in both Planning and Purchase, or is it assigned to the phase of its primary outcome?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8600" y="3621024"/>
            <a:ext cx="365760" cy="365760"/>
          </a:xfrm>
          <a:prstGeom prst="rect">
            <a:avLst/>
          </a:prstGeom>
          <a:solidFill>
            <a:srgbClr val="D68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28600" y="3621024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Q3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3575304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4E3B30"/>
                </a:solidFill>
                <a:latin typeface="Arial"/>
              </a:rPr>
              <a:t>TOMP-API-MP placement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3849624"/>
            <a:ext cx="82296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Arial"/>
              </a:rPr>
              <a:t>The reverse notification channel is a standalone spec file. Should it be a standalone module, a sub-section of Notifications, or an annex?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28600" y="4572000"/>
            <a:ext cx="365760" cy="365760"/>
          </a:xfrm>
          <a:prstGeom prst="rect">
            <a:avLst/>
          </a:prstGeom>
          <a:solidFill>
            <a:srgbClr val="D68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28600" y="457200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Q4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4526280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4E3B30"/>
                </a:solidFill>
                <a:latin typeface="Arial"/>
              </a:rPr>
              <a:t>Which option to carry into Phase 2 (The Forge)?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4800600"/>
            <a:ext cx="82296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Arial"/>
              </a:rPr>
              <a:t>The group should select one option — or a hybrid — as the baseline TS structure for the first technical proposal.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28600" y="5522976"/>
            <a:ext cx="365760" cy="365760"/>
          </a:xfrm>
          <a:prstGeom prst="rect">
            <a:avLst/>
          </a:prstGeom>
          <a:solidFill>
            <a:srgbClr val="D68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28600" y="5522976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Q5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5477256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4E3B30"/>
                </a:solidFill>
                <a:latin typeface="Arial"/>
              </a:rPr>
              <a:t>Module boundary stability in Phase 3 (The Anvil)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5751576"/>
            <a:ext cx="82296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Arial"/>
              </a:rPr>
              <a:t>Should module boundaries be frozen after Phase 2, or may they be reorganised during biweekly iteration without triggering a ballot reset?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