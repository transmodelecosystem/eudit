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73152"/>
          </a:xfrm>
          <a:prstGeom prst="rect">
            <a:avLst/>
          </a:prstGeom>
          <a:solidFill>
            <a:srgbClr val="D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EUDIT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DD7EE"/>
                </a:solidFill>
              </a:rPr>
              <a:t>Modularising the Technical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0C4FF"/>
                </a:solidFill>
              </a:rPr>
              <a:t>Options for cross-standard functional module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0A0C0"/>
                </a:solidFill>
              </a:rPr>
              <a:t>Phase 1 — The Kidling  ·  Standards: OSDM · TOMP-API · OMSA · BoB · FerryGateway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08176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0817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716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Current setup per standard — a structural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79222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Current setup — key cross-spec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9424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4942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128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Cross-cutting functional domains (13-domain matrix)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70048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7004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334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Five modularisation options — 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90672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067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05409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Option A — Functional Layer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11296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1129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747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Option B — Travel Lifecycle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3192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89534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Option C — Actor / Role-Based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52544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5254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3159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Option D — Transmodel Entity-Centric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73168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7316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73659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8A00"/>
                </a:solidFill>
              </a:rPr>
              <a:t>Option E — Hybrid: Lifecycle × Functional  ★ Recommended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193792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9379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15721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Comparison — scoring across six criteria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614416"/>
            <a:ext cx="502920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61441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577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</a:rPr>
              <a:t>Open questions for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Setup — Standards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Six standards, four design traditions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3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234440"/>
          <a:ext cx="11612880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17320"/>
                <a:gridCol w="594360"/>
                <a:gridCol w="7680960"/>
              </a:tblGrid>
              <a:tr h="694944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Internal grouping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4E79"/>
                          </a:solidFill>
                        </a:rPr>
                        <a:t>OSDM 3.7.1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OpenAPI 3.0.3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27 named tags over 68 paths · 491 schemas · one 37k-line file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4E79"/>
                          </a:solidFill>
                        </a:rPr>
                        <a:t>TOMP-API 2.0.0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OpenAPI 3.0.0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11 tags · OGC API Processes pattern · async callbacks · 137 schemas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4E79"/>
                          </a:solidFill>
                        </a:rPr>
                        <a:t>TOMP-API-MP 2.0.0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OpenAPI 3.0.0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1 tag (notifications) · reverse channel · ext. $ref to TOMP-API sibling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4E79"/>
                          </a:solidFill>
                        </a:rPr>
                        <a:t>OMSA 0.1.0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OpenAPI 3.0.0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4 tags · same OGC Processes architecture as TOMP-API ·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4E79"/>
                          </a:solidFill>
                        </a:rPr>
                        <a:t>BoB suite (×10)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Swagger 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10 independent microservice files · no cross-file $ref · flat definitions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4E79"/>
                          </a:solidFill>
                        </a:rPr>
                        <a:t>FerryGateway 1.3.1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XSD 1.0 (RPC)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15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15 request/response pairs · 179 complexTypes · xs:extension inheritance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Setup — Key Cross-Spec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26187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TOMP-API and OMSA share an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Both use the OGC API Processes pattern (/processes/{op}/execution), identical 5-scheme security, and async job callbacks — but differ in minor naming (/execute vs /execution).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95144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951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585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BoB spatial types are duplicated across 5 of 10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32888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geoPosition, circle, polygon, and polyline are independently redefined in BoB Traveller, Product, Validation, Inspection, and Ticket — no shared library exists. A shared schema module would eliminate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91840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2918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TOMP-API-MP reveals a prior modular layout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52958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A broken $ref to ../TOMP-API-6-AFTER-SALES.yaml (not in the repo) confirms TOMP originally anticipated module files (module-1 through module-7). The x-modules hint in TOMP-API's info block is a remnant.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88536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2885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25196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FerryGateway bundles multiple lifecycle phases per 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52628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The Book, Reservation, and ConfirmReservation pairs each span what other standards handle as separate API calls. Any module boundary must acknowledge FerryGateway's coarser granularity.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85232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2852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486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Domain 9 (Validation &amp; Inspection) is BoB-only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22976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No other standard in the set covers physical token inspection. This domain requires a deliberate TS decision: dedicated module or sub-section of Fulfillment pending other standards adding inspection?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Cross-Cutting Functional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13 domains identified across all standards  ·  ✓ = covered  ·  — = not 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5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1207008"/>
          <a:ext cx="11804903" cy="524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977639"/>
                <a:gridCol w="1243584"/>
                <a:gridCol w="1243584"/>
                <a:gridCol w="1243584"/>
                <a:gridCol w="1243584"/>
                <a:gridCol w="1243584"/>
                <a:gridCol w="1243584"/>
              </a:tblGrid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OSDM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TOMP-API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TOMP-MP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OMSA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BoB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FerryGW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Network &amp; Service Discovery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Journey / Trip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Pricing &amp; Offers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Booking &amp; Reservation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Fulfillment &amp; Ticketing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After-Sales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Traveller &amp; Account Management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Asset &amp; Token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Validation &amp; Inspection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Notifications &amp; Async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Identity, Auth &amp; Participant Metadata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Documents &amp; Invoices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5B6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</a:rPr>
                        <a:t>Complaints &amp; Support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78644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Five Modularisation Options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029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9903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1673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Functional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8249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One chapter per functional domain  ·  13 modules  ·  lowest editorial complexity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67712"/>
            <a:ext cx="5029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38658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042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Travel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700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One chapter per journey phase  ·  5 phases + cross-cutting  ·  best narrative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55264"/>
            <a:ext cx="5029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37413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91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Actor / Role-Based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576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One chapter per stakeholder role  ·  5 roles  ·  aligned with wiki/roles.md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42816"/>
            <a:ext cx="50292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3616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2793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</a:rPr>
              <a:t>Transmodel Entity-Centric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4515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One chapter per Transmodel entity family  ·  7 entities  ·  maximum Transmodel alignment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230368"/>
            <a:ext cx="502920" cy="822960"/>
          </a:xfrm>
          <a:prstGeom prst="rect">
            <a:avLst/>
          </a:prstGeom>
          <a:solidFill>
            <a:srgbClr val="D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3492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26694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8A00"/>
                </a:solidFill>
              </a:rPr>
              <a:t>Hybrid: Lifecycle × Functional  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6327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Lifecycle phases as top level; functional sub-modules within  ·  6 phases × N sub-modules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Option A — Functional Layer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One module per functional domain · 13 modules · lowest editorial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7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61872"/>
            <a:ext cx="5212080" cy="5166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Proposed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1.  Network &amp; Service Discovery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2.  Journey / Trip Planning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3.  Pricing &amp; Offers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4.  Booking &amp; Reservation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5.  Fulfillment &amp; Ticketing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6.  After-Sales (Refund / Exchange / Cancel)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7.  Traveller &amp; Account Management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8.  Asset &amp; Token Management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9.  Validation &amp; Inspection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10. Notifications &amp; Async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11. Identity, Auth &amp; Participant Metadata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12. Documents &amp; Invoices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13. Complaints &amp;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261872"/>
            <a:ext cx="6263640" cy="2807208"/>
          </a:xfrm>
          <a:prstGeom prst="rect">
            <a:avLst/>
          </a:prstGeom>
          <a:solidFill>
            <a:srgbClr val="F0FBF0"/>
          </a:solidFill>
          <a:ln w="9525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307592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✓  PROs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627632"/>
            <a:ext cx="59893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Maps directly to OSDM's 27 tags and TOMP-API's 11 tags — minimal reinterpretation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Granular: every operation has exactly one home module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Standard API documentation practice; familiar to implementors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Aligns with TOMP-API's x-modules hint in its info block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New standards can be mapped module-by-module without TS restructuring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4160520"/>
            <a:ext cx="6263640" cy="2331720"/>
          </a:xfrm>
          <a:prstGeom prst="rect">
            <a:avLst/>
          </a:prstGeom>
          <a:solidFill>
            <a:srgbClr val="FFF0F0"/>
          </a:solidFill>
          <a:ln w="9525">
            <a:solidFill>
              <a:srgbClr val="E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215384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✗  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526280"/>
            <a:ext cx="5989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− 13 chapters is a large TS structure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Domains 3–5 (Pricing / Booking / Fulfillment) are tightly coupled; boundary is blurry across all standards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Doesn't match how transport stakeholders reason (workflows, not functions)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High forward/back cross-reference density between adjacent chapters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Option B — Travel Lifecycle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One module per journey phase · 5 phases + cross-cutting cluster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61872"/>
            <a:ext cx="5212080" cy="5166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Proposed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1.  Pre-Trip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Discovery · Journey Search · Pricing · Offers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2.  Purchase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Booking · Reservation · Payment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3.  Pre-Departure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Fulfillment · Documents · Traveller Mgmt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4.  In-Journey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Validation · Inspection · Asset Ops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5.  Post-Trip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After-Sales · Invoices · Complaints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—   Cross-cutting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Auth · Notifications ·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261872"/>
            <a:ext cx="6263640" cy="2807208"/>
          </a:xfrm>
          <a:prstGeom prst="rect">
            <a:avLst/>
          </a:prstGeom>
          <a:solidFill>
            <a:srgbClr val="F0FBF0"/>
          </a:solidFill>
          <a:ln w="9525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307592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✓  PROs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627632"/>
            <a:ext cx="59893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Natural narrative; accessible to non-technical CEN working-group members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Directly aligned with the 7 CoRoM use cases in wiki/use-cases/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Only 6 top-level chapters — most cohesive structure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In-Journey cleanly isolates BoB validation/inspection domain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4160520"/>
            <a:ext cx="6263640" cy="2331720"/>
          </a:xfrm>
          <a:prstGeom prst="rect">
            <a:avLst/>
          </a:prstGeom>
          <a:solidFill>
            <a:srgbClr val="FFF0F0"/>
          </a:solidFill>
          <a:ln w="9525">
            <a:solidFill>
              <a:srgbClr val="E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215384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✗  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526280"/>
            <a:ext cx="5989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Several operations are ambiguous in phase (on-hold offers, release offers)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In-Journey chapter is near-empty for most standards except BoB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FerryGateway bundles multiple phases per message pair — hard to place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Cross-cutting pseudo-module breaks the linear narrative structure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Lifecycle boundaries may shift as use cases mature → TS restructuring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Option C — Actor / Role-Based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One module per stakeholder role · aligned with wiki/roles.md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9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61872"/>
            <a:ext cx="5212080" cy="5166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Proposed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1.  TRANSPORT CUSTOMER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Search · Book · Manage trip · After-sales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2.  TRANSPORT OPERATOR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Offer · Fulfil · Validate · Notify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3.  DISTRIBUTOR / MaaS Provider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Aggregate · Compose · Handle notifications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4.  INSPECTOR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Validate &amp; inspect physical tokens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5.  System-to-System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Metadata · Health · Auth · Participant registry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261872"/>
            <a:ext cx="6263640" cy="2807208"/>
          </a:xfrm>
          <a:prstGeom prst="rect">
            <a:avLst/>
          </a:prstGeom>
          <a:solidFill>
            <a:srgbClr val="F0FBF0"/>
          </a:solidFill>
          <a:ln w="9525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307592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✓  PROs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627632"/>
            <a:ext cx="59893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Aligned with Transmodel role definitions and wiki/roles.md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Clear ownership: each chapter = one actor's API contract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Enables clean conformance claims ('implements CUSTOMER module')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BoB ParticipantMetadata tags already map to participant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4160520"/>
            <a:ext cx="6263640" cy="2331720"/>
          </a:xfrm>
          <a:prstGeom prst="rect">
            <a:avLst/>
          </a:prstGeom>
          <a:solidFill>
            <a:srgbClr val="FFF0F0"/>
          </a:solidFill>
          <a:ln w="9525">
            <a:solidFill>
              <a:srgbClr val="E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215384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✗  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526280"/>
            <a:ext cx="5989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Same operation serves multiple roles (e.g. GET /bookings/{id} is used by both CUSTOMER and DISTRIBUTOR)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OSDM, TOMP-API, OMSA present a single unified API; role is OAuth scope, not endpoint separation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BoB and FerryGateway have no explicit role model — assignment is editorial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Role definitions in wiki/roles.md may still evolve → TS revision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Option D — Transmodel Entity-Centric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One module per Transmodel entity family · maximum Transmodel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10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61872"/>
            <a:ext cx="5212080" cy="5166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Proposed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1.  PLACE &amp; NETWORK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2.  SERVICE JOURNEY &amp; TRIP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3.  FARE PRODUCT &amp; SALES OFFER PACKAGE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4.  BOOKING &amp; RESERVED PLACE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5.  TRAVEL DOCUMENT &amp; FULFILMENT METHOD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6.  TRANSPORT CUSTOMER &amp; TRAVEL ACCOUNT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7.  ASSET / VEHICLE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—   Cross-cutting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 ORGANISATION · Auth · 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261872"/>
            <a:ext cx="6263640" cy="2807208"/>
          </a:xfrm>
          <a:prstGeom prst="rect">
            <a:avLst/>
          </a:prstGeom>
          <a:solidFill>
            <a:srgbClr val="F0FBF0"/>
          </a:solidFill>
          <a:ln w="9525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307592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✓  PROs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627632"/>
            <a:ext cx="59893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Maximally aligned with EUDIT's core mission: Transmodel-compliant interface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Every chapter opens with a canonical Transmodel entity definition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Leverages x-semantics annotations already applied to all 10 spec files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Strongest justification for architectural choices to CEN reviewers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4160520"/>
            <a:ext cx="6263640" cy="2331720"/>
          </a:xfrm>
          <a:prstGeom prst="rect">
            <a:avLst/>
          </a:prstGeom>
          <a:solidFill>
            <a:srgbClr val="FFF0F0"/>
          </a:solidFill>
          <a:ln w="9525">
            <a:solidFill>
              <a:srgbClr val="E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215384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✗  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526280"/>
            <a:ext cx="5989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High Transmodel literacy required from readers — accessibility risk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Purely procedural operations (health, auth, notifications) have no primary Transmodel entity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Single API call often touches multiple entities: POST /bookings creates BOOKING + RESERVED PLACE + references SALES OFFER PACKAGE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FerryGateway has no x-semantics annotations — entity assignment is manual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Highest editorial complexity of all five options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Option E — Hybrid: Lifecycle × Functional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Lifecycle phases as top level · functional sub-modules within · 6 phases + cross-cutting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11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61872"/>
            <a:ext cx="5212080" cy="51663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Proposed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1. Network &amp; Product Catalogue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1.1 Service Discovery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1.2 Network Data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1.3 Product Catalogue &amp; Pricing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2. Planning &amp; Selection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2.1 Journey Search   2.2 Offers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3. Purchase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3.1 Booking &amp; Reservation   3.2 Payment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4. Entitlements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4.1 Fulfillment &amp; Tickets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4.2 Traveller Mgmt   4.3 Documents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5. In-Journey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5.1 Validation &amp; Inspection   5.2 Assets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6. Post-Journey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6.1 After-Sales   6.2 Complaints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7. Cross-cutting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7.1 Auth &amp; Identity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</a:rPr>
              <a:t>•     7.2 Notifications   7.3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261872"/>
            <a:ext cx="6263640" cy="2807208"/>
          </a:xfrm>
          <a:prstGeom prst="rect">
            <a:avLst/>
          </a:prstGeom>
          <a:solidFill>
            <a:srgbClr val="F0FBF0"/>
          </a:solidFill>
          <a:ln w="9525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307592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✓  PROs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627632"/>
            <a:ext cx="59893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Lifecycle phases = narrative clarity; functional sub-modules = operational precision — best of both worlds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Top-level phases match CoRoM use cases and user-action entries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Cross-cutting cluster cleanly isolates auth, notifications, metadata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Balanced chapter sizes — no near-empty phase chapters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5C1A"/>
                </a:solidFill>
              </a:rPr>
              <a:t>+ Scales: new operations added to a sub-module without TS restructuring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4160520"/>
            <a:ext cx="6263640" cy="2331720"/>
          </a:xfrm>
          <a:prstGeom prst="rect">
            <a:avLst/>
          </a:prstGeom>
          <a:solidFill>
            <a:srgbClr val="FFF0F0"/>
          </a:solidFill>
          <a:ln w="9525">
            <a:solidFill>
              <a:srgbClr val="EE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215384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✗  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526280"/>
            <a:ext cx="5989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Two-level hierarchy produces more cross-references than flat options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Sub-module boundary drift risk during Phase 3 (The Anvil) iterations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7A1010"/>
                </a:solidFill>
              </a:rPr>
              <a:t>− Risk of over-engineering structure before TS content is stable in Phase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6576"/>
            <a:ext cx="2331720" cy="402336"/>
          </a:xfrm>
          <a:prstGeom prst="rect">
            <a:avLst/>
          </a:prstGeom>
          <a:solidFill>
            <a:srgbClr val="D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36576"/>
            <a:ext cx="2331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★  RECOMMENDED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✓✓ = strong fit   ✓ = adequate   ~ = partial   ✗ = weak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12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234440"/>
          <a:ext cx="1175004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746504"/>
                <a:gridCol w="1746504"/>
                <a:gridCol w="1746504"/>
                <a:gridCol w="1746504"/>
                <a:gridCol w="1746504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A
Functional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B
Lifecycle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
Actor/Role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D
Transmodel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E
Hybrid ★</a:t>
                      </a:r>
                    </a:p>
                  </a:txBody>
                  <a:tcPr>
                    <a:solidFill>
                      <a:srgbClr val="D68A0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Transmodel alignment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78644"/>
                          </a:solidFill>
                        </a:rPr>
                        <a:t>✓✓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Narrative clarity for working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78644"/>
                          </a:solidFill>
                        </a:rPr>
                        <a:t>✓✓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78644"/>
                          </a:solidFill>
                        </a:rPr>
                        <a:t>✓✓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Traceability to CoRoM use cases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78644"/>
                          </a:solidFill>
                        </a:rPr>
                        <a:t>✓✓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78644"/>
                          </a:solidFill>
                        </a:rPr>
                        <a:t>✓✓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Implementor usability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78644"/>
                          </a:solidFill>
                        </a:rPr>
                        <a:t>✓✓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Coverage balance across standards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~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E75B6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</a:rPr>
                        <a:t>Editorial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78644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78644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C0392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D68A00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28600" y="6446520"/>
            <a:ext cx="1175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8A00"/>
                </a:solidFill>
              </a:rPr>
              <a:t>Option E (Hybrid) scores consistently across all criteria at medium editorial cost — recommended as the Phase 2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Questions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DD7EE"/>
                </a:solidFill>
              </a:rPr>
              <a:t>[TO DISCUSS / COMPLETE] — items for the working-group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EUDIT — Modularising the Technical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</a:rPr>
              <a:t>13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07592"/>
            <a:ext cx="384048" cy="384048"/>
          </a:xfrm>
          <a:prstGeom prst="rect">
            <a:avLst/>
          </a:prstGeom>
          <a:solidFill>
            <a:srgbClr val="D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075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2618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Validation &amp; Inspection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53619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BoB is currently the only standard covering Domain 9. Full TS module, or sub-section of Fulfillment pending other standards adding inspection?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95144"/>
            <a:ext cx="384048" cy="384048"/>
          </a:xfrm>
          <a:prstGeom prst="rect">
            <a:avLst/>
          </a:prstGeom>
          <a:solidFill>
            <a:srgbClr val="D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24942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FerryGateway RPC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23744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FerryGateway's message pairs bundle multiple lifecycle phases. Under Option B or E, does a bundled pair (e.g. Book) appear in both Planning and Purchase, or is it assigned to the phase of its primary outcome?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82696"/>
            <a:ext cx="384048" cy="384048"/>
          </a:xfrm>
          <a:prstGeom prst="rect">
            <a:avLst/>
          </a:prstGeom>
          <a:solidFill>
            <a:srgbClr val="D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2826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23697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TOMP-API-MP placement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511296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The reverse notification channel is a standalone spec file. Should it be a standalone module, a sub-section of Notifications, or an annex?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70248"/>
            <a:ext cx="384048" cy="384048"/>
          </a:xfrm>
          <a:prstGeom prst="rect">
            <a:avLst/>
          </a:prstGeom>
          <a:solidFill>
            <a:srgbClr val="D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2702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224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Which option to carry into Phase 2 (The Forge)?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498848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The group should select one option — or a hybrid — as the baseline TS structure for the first technical proposal. This deck recommends Option 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57800"/>
            <a:ext cx="384048" cy="384048"/>
          </a:xfrm>
          <a:prstGeom prst="rect">
            <a:avLst/>
          </a:prstGeom>
          <a:solidFill>
            <a:srgbClr val="D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2578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2120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Module boundary stability in Phase 3 (The Anvil)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486400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</a:rPr>
              <a:t>Should module boundaries be frozen after Phase 2, or may they be reorganised during biweekly iteration without triggering a ballot reset?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